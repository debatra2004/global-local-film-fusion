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21"/>
  </p:notesMasterIdLst>
  <p:sldIdLst>
    <p:sldId id="256" r:id="rId3"/>
    <p:sldId id="257" r:id="rId4"/>
    <p:sldId id="258" r:id="rId5"/>
    <p:sldId id="270" r:id="rId6"/>
    <p:sldId id="259" r:id="rId7"/>
    <p:sldId id="260" r:id="rId8"/>
    <p:sldId id="261" r:id="rId9"/>
    <p:sldId id="262" r:id="rId10"/>
    <p:sldId id="263" r:id="rId11"/>
    <p:sldId id="271" r:id="rId12"/>
    <p:sldId id="264" r:id="rId13"/>
    <p:sldId id="272" r:id="rId14"/>
    <p:sldId id="273" r:id="rId15"/>
    <p:sldId id="265" r:id="rId16"/>
    <p:sldId id="266" r:id="rId17"/>
    <p:sldId id="267" r:id="rId18"/>
    <p:sldId id="274" r:id="rId19"/>
    <p:sldId id="269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3AD59BF-AE14-4729-9DF6-E612FE60587F}">
  <a:tblStyle styleId="{73AD59BF-AE14-4729-9DF6-E612FE60587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b2e1eca45_2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3eb2e1eca45_2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eb2e1eca45_2_1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b2e1eca45_2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3eb2e1eca45_2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b2e1eca45_2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g3eb2e1eca45_2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b2e1eca45_2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g3eb2e1eca45_2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6573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b2e1eca45_2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g3eb2e1eca45_2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eb2e1eca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eb2e1eca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b2e1eca45_2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3eb2e1eca45_2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eb2e1eca45_2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g3eb2e1eca45_2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b2e1eca45_2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3eb2e1eca45_2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b2e1eca45_2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3eb2e1eca45_2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51205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b2e1eca45_2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g3eb2e1eca45_2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b2e1eca45_2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3eb2e1eca45_2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eb2e1eca45_2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g3eb2e1eca45_2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b2e1eca45_2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g3eb2e1eca45_2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eb2e1eca45_2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g3eb2e1eca45_2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8991600" y="2286"/>
            <a:ext cx="1524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0" y="0"/>
            <a:ext cx="9144000" cy="18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146304" y="4793743"/>
            <a:ext cx="8833200" cy="232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subTitle" idx="1"/>
          </p:nvPr>
        </p:nvSpPr>
        <p:spPr>
          <a:xfrm>
            <a:off x="1371600" y="21145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spcBef>
                <a:spcPts val="200"/>
              </a:spcBef>
              <a:spcAft>
                <a:spcPts val="0"/>
              </a:spcAft>
              <a:buSzPts val="1000"/>
              <a:buNone/>
              <a:defRPr sz="1200" b="1" cap="none">
                <a:solidFill>
                  <a:schemeClr val="dk2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SzPts val="900"/>
              <a:buNone/>
              <a:defRPr/>
            </a:lvl2pPr>
            <a:lvl3pPr lvl="2" algn="ctr"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300"/>
              </a:spcBef>
              <a:spcAft>
                <a:spcPts val="0"/>
              </a:spcAft>
              <a:buSzPts val="90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dt" idx="10"/>
          </p:nvPr>
        </p:nvSpPr>
        <p:spPr>
          <a:xfrm>
            <a:off x="5791200" y="4803738"/>
            <a:ext cx="3045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ftr" idx="11"/>
          </p:nvPr>
        </p:nvSpPr>
        <p:spPr>
          <a:xfrm>
            <a:off x="304800" y="4808136"/>
            <a:ext cx="3581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74" name="Google Shape;74;p14"/>
          <p:cNvCxnSpPr/>
          <p:nvPr/>
        </p:nvCxnSpPr>
        <p:spPr>
          <a:xfrm>
            <a:off x="155448" y="1815084"/>
            <a:ext cx="8833200" cy="0"/>
          </a:xfrm>
          <a:prstGeom prst="straightConnector1">
            <a:avLst/>
          </a:prstGeom>
          <a:noFill/>
          <a:ln w="114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5" name="Google Shape;75;p14"/>
          <p:cNvSpPr/>
          <p:nvPr/>
        </p:nvSpPr>
        <p:spPr>
          <a:xfrm>
            <a:off x="152400" y="114300"/>
            <a:ext cx="8833200" cy="4910400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4267200" y="1586484"/>
            <a:ext cx="6096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4361688" y="1657350"/>
            <a:ext cx="420600" cy="315600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8" name="Google Shape;78;p14"/>
          <p:cNvSpPr txBox="1">
            <a:spLocks noGrp="1"/>
          </p:cNvSpPr>
          <p:nvPr>
            <p:ph type="sldNum" idx="12"/>
          </p:nvPr>
        </p:nvSpPr>
        <p:spPr>
          <a:xfrm>
            <a:off x="4343400" y="1649588"/>
            <a:ext cx="4572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lvl="1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lvl="2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lvl="3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lvl="4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lvl="5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lvl="6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lvl="7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lvl="8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ctrTitle"/>
          </p:nvPr>
        </p:nvSpPr>
        <p:spPr>
          <a:xfrm>
            <a:off x="685800" y="285750"/>
            <a:ext cx="77724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Georgia"/>
              <a:buNone/>
              <a:defRPr sz="3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>
            <a:spLocks noGrp="1"/>
          </p:cNvSpPr>
          <p:nvPr>
            <p:ph type="title"/>
          </p:nvPr>
        </p:nvSpPr>
        <p:spPr>
          <a:xfrm>
            <a:off x="301752" y="171450"/>
            <a:ext cx="85344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2500"/>
              <a:buFont typeface="Georgia"/>
              <a:buNone/>
              <a:defRPr>
                <a:solidFill>
                  <a:srgbClr val="7A979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dt" idx="10"/>
          </p:nvPr>
        </p:nvSpPr>
        <p:spPr>
          <a:xfrm>
            <a:off x="5791200" y="4803738"/>
            <a:ext cx="3045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ftr" idx="11"/>
          </p:nvPr>
        </p:nvSpPr>
        <p:spPr>
          <a:xfrm>
            <a:off x="304800" y="4808136"/>
            <a:ext cx="3581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sldNum" idx="12"/>
          </p:nvPr>
        </p:nvSpPr>
        <p:spPr>
          <a:xfrm>
            <a:off x="4361688" y="769780"/>
            <a:ext cx="4572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body" idx="1"/>
          </p:nvPr>
        </p:nvSpPr>
        <p:spPr>
          <a:xfrm>
            <a:off x="301752" y="1145286"/>
            <a:ext cx="8503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1pPr>
            <a:lvl2pPr marL="914400" lvl="1" indent="-285750" algn="l">
              <a:spcBef>
                <a:spcPts val="300"/>
              </a:spcBef>
              <a:spcAft>
                <a:spcPts val="0"/>
              </a:spcAft>
              <a:buSzPts val="900"/>
              <a:buChar char="⚪"/>
              <a:defRPr/>
            </a:lvl2pPr>
            <a:lvl3pPr marL="1371600" lvl="2" indent="-292100" algn="l">
              <a:spcBef>
                <a:spcPts val="300"/>
              </a:spcBef>
              <a:spcAft>
                <a:spcPts val="0"/>
              </a:spcAft>
              <a:buSzPts val="1000"/>
              <a:buChar char="⯍"/>
              <a:defRPr/>
            </a:lvl3pPr>
            <a:lvl4pPr marL="1828800" lvl="3" indent="-285750" algn="l">
              <a:spcBef>
                <a:spcPts val="300"/>
              </a:spcBef>
              <a:spcAft>
                <a:spcPts val="0"/>
              </a:spcAft>
              <a:buSzPts val="900"/>
              <a:buChar char="🞆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29845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marL="3200400" lvl="6" indent="-304800" algn="l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04800" algn="l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8991600" y="14288"/>
            <a:ext cx="1524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152400" y="1714500"/>
            <a:ext cx="88332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155448" y="106764"/>
            <a:ext cx="8833200" cy="1604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3" name="Google Shape;93;p16"/>
          <p:cNvSpPr txBox="1">
            <a:spLocks noGrp="1"/>
          </p:cNvSpPr>
          <p:nvPr>
            <p:ph type="body" idx="1"/>
          </p:nvPr>
        </p:nvSpPr>
        <p:spPr>
          <a:xfrm>
            <a:off x="1368426" y="2057400"/>
            <a:ext cx="6480300" cy="12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spcBef>
                <a:spcPts val="200"/>
              </a:spcBef>
              <a:spcAft>
                <a:spcPts val="0"/>
              </a:spcAft>
              <a:buSzPts val="1000"/>
              <a:buNone/>
              <a:defRPr sz="12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9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9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SzPts val="1100"/>
              <a:buFont typeface="Georgia"/>
              <a:buNone/>
              <a:defRPr sz="1100">
                <a:solidFill>
                  <a:srgbClr val="888888"/>
                </a:solidFill>
              </a:defRPr>
            </a:lvl5pPr>
            <a:lvl6pPr marL="2743200" lvl="5" indent="-29845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marL="3200400" lvl="6" indent="-304800" algn="l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04800" algn="l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146304" y="4793743"/>
            <a:ext cx="8833200" cy="232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152400" y="114300"/>
            <a:ext cx="8833200" cy="4910400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6" name="Google Shape;96;p16"/>
          <p:cNvSpPr txBox="1">
            <a:spLocks noGrp="1"/>
          </p:cNvSpPr>
          <p:nvPr>
            <p:ph type="ftr" idx="11"/>
          </p:nvPr>
        </p:nvSpPr>
        <p:spPr>
          <a:xfrm>
            <a:off x="304800" y="4808136"/>
            <a:ext cx="3581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dt" idx="10"/>
          </p:nvPr>
        </p:nvSpPr>
        <p:spPr>
          <a:xfrm>
            <a:off x="5791200" y="4803738"/>
            <a:ext cx="3045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98" name="Google Shape;98;p16"/>
          <p:cNvCxnSpPr/>
          <p:nvPr/>
        </p:nvCxnSpPr>
        <p:spPr>
          <a:xfrm>
            <a:off x="152400" y="1828800"/>
            <a:ext cx="8833200" cy="0"/>
          </a:xfrm>
          <a:prstGeom prst="straightConnector1">
            <a:avLst/>
          </a:prstGeom>
          <a:noFill/>
          <a:ln w="114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99" name="Google Shape;99;p16"/>
          <p:cNvSpPr/>
          <p:nvPr/>
        </p:nvSpPr>
        <p:spPr>
          <a:xfrm>
            <a:off x="4267200" y="1586484"/>
            <a:ext cx="6096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4361688" y="1657350"/>
            <a:ext cx="420600" cy="315600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1" name="Google Shape;101;p16"/>
          <p:cNvSpPr txBox="1">
            <a:spLocks noGrp="1"/>
          </p:cNvSpPr>
          <p:nvPr>
            <p:ph type="sldNum" idx="12"/>
          </p:nvPr>
        </p:nvSpPr>
        <p:spPr>
          <a:xfrm>
            <a:off x="4343400" y="1649588"/>
            <a:ext cx="4572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lvl="1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lvl="2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lvl="3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lvl="4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lvl="5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lvl="6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lvl="7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lvl="8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722313" y="400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  <a:defRPr sz="3200" b="0" cap="none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bg>
      <p:bgPr>
        <a:solidFill>
          <a:schemeClr val="lt2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title"/>
          </p:nvPr>
        </p:nvSpPr>
        <p:spPr>
          <a:xfrm>
            <a:off x="301752" y="171450"/>
            <a:ext cx="85344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dt" idx="10"/>
          </p:nvPr>
        </p:nvSpPr>
        <p:spPr>
          <a:xfrm>
            <a:off x="5791200" y="4807458"/>
            <a:ext cx="3045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ftr" idx="11"/>
          </p:nvPr>
        </p:nvSpPr>
        <p:spPr>
          <a:xfrm>
            <a:off x="304800" y="4808136"/>
            <a:ext cx="3581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4343400" y="780131"/>
            <a:ext cx="4572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08" name="Google Shape;108;p17"/>
          <p:cNvCxnSpPr/>
          <p:nvPr/>
        </p:nvCxnSpPr>
        <p:spPr>
          <a:xfrm rot="10800000" flipH="1">
            <a:off x="4563080" y="1181707"/>
            <a:ext cx="9000" cy="3614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301752" y="1028700"/>
            <a:ext cx="4038600" cy="3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30200" algn="l">
              <a:spcBef>
                <a:spcPts val="400"/>
              </a:spcBef>
              <a:spcAft>
                <a:spcPts val="0"/>
              </a:spcAft>
              <a:buSzPts val="1600"/>
              <a:buChar char="⚫"/>
              <a:defRPr sz="1900"/>
            </a:lvl1pPr>
            <a:lvl2pPr marL="914400" lvl="1" indent="-285750" algn="l">
              <a:spcBef>
                <a:spcPts val="300"/>
              </a:spcBef>
              <a:spcAft>
                <a:spcPts val="0"/>
              </a:spcAft>
              <a:buSzPts val="900"/>
              <a:buChar char="⚪"/>
              <a:defRPr/>
            </a:lvl2pPr>
            <a:lvl3pPr marL="1371600" lvl="2" indent="-292100" algn="l">
              <a:spcBef>
                <a:spcPts val="300"/>
              </a:spcBef>
              <a:spcAft>
                <a:spcPts val="0"/>
              </a:spcAft>
              <a:buSzPts val="1000"/>
              <a:buChar char="⯍"/>
              <a:defRPr/>
            </a:lvl3pPr>
            <a:lvl4pPr marL="1828800" lvl="3" indent="-285750" algn="l">
              <a:spcBef>
                <a:spcPts val="300"/>
              </a:spcBef>
              <a:spcAft>
                <a:spcPts val="0"/>
              </a:spcAft>
              <a:buSzPts val="900"/>
              <a:buChar char="🞆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29845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marL="3200400" lvl="6" indent="-304800" algn="l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04800" algn="l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2"/>
          </p:nvPr>
        </p:nvSpPr>
        <p:spPr>
          <a:xfrm>
            <a:off x="4800600" y="1028700"/>
            <a:ext cx="4038600" cy="3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30200" algn="l">
              <a:spcBef>
                <a:spcPts val="400"/>
              </a:spcBef>
              <a:spcAft>
                <a:spcPts val="0"/>
              </a:spcAft>
              <a:buSzPts val="1600"/>
              <a:buChar char="⚫"/>
              <a:defRPr sz="1900"/>
            </a:lvl1pPr>
            <a:lvl2pPr marL="914400" lvl="1" indent="-285750" algn="l">
              <a:spcBef>
                <a:spcPts val="300"/>
              </a:spcBef>
              <a:spcAft>
                <a:spcPts val="0"/>
              </a:spcAft>
              <a:buSzPts val="900"/>
              <a:buChar char="⚪"/>
              <a:defRPr/>
            </a:lvl2pPr>
            <a:lvl3pPr marL="1371600" lvl="2" indent="-292100" algn="l">
              <a:spcBef>
                <a:spcPts val="300"/>
              </a:spcBef>
              <a:spcAft>
                <a:spcPts val="0"/>
              </a:spcAft>
              <a:buSzPts val="1000"/>
              <a:buChar char="⯍"/>
              <a:defRPr/>
            </a:lvl3pPr>
            <a:lvl4pPr marL="1828800" lvl="3" indent="-285750" algn="l">
              <a:spcBef>
                <a:spcPts val="300"/>
              </a:spcBef>
              <a:spcAft>
                <a:spcPts val="0"/>
              </a:spcAft>
              <a:buSzPts val="900"/>
              <a:buChar char="🞆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29845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marL="3200400" lvl="6" indent="-304800" algn="l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04800" algn="l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bg>
      <p:bgPr>
        <a:solidFill>
          <a:schemeClr val="lt2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Google Shape;112;p18"/>
          <p:cNvCxnSpPr/>
          <p:nvPr/>
        </p:nvCxnSpPr>
        <p:spPr>
          <a:xfrm rot="10800000">
            <a:off x="4572000" y="1650170"/>
            <a:ext cx="0" cy="314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13" name="Google Shape;113;p18"/>
          <p:cNvSpPr/>
          <p:nvPr/>
        </p:nvSpPr>
        <p:spPr>
          <a:xfrm>
            <a:off x="0" y="0"/>
            <a:ext cx="9144000" cy="10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8991600" y="0"/>
            <a:ext cx="1524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152400" y="1028700"/>
            <a:ext cx="88332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145923" y="4793742"/>
            <a:ext cx="8833200" cy="233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9" name="Google Shape;119;p18"/>
          <p:cNvSpPr txBox="1">
            <a:spLocks noGrp="1"/>
          </p:cNvSpPr>
          <p:nvPr>
            <p:ph type="body" idx="1"/>
          </p:nvPr>
        </p:nvSpPr>
        <p:spPr>
          <a:xfrm>
            <a:off x="301752" y="1143000"/>
            <a:ext cx="4040100" cy="549600"/>
          </a:xfrm>
          <a:prstGeom prst="rect">
            <a:avLst/>
          </a:prstGeom>
          <a:noFill/>
          <a:ln>
            <a:noFill/>
          </a:ln>
          <a:effectLst>
            <a:outerShdw blurRad="508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100"/>
              <a:buNone/>
              <a:defRPr sz="15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4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SzPts val="800"/>
              <a:buNone/>
              <a:defRPr sz="12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SzPts val="1200"/>
              <a:buFont typeface="Georgia"/>
              <a:buNone/>
              <a:defRPr sz="12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lvl="5" indent="-29845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marL="3200400" lvl="6" indent="-304800" algn="l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04800" algn="l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body" idx="2"/>
          </p:nvPr>
        </p:nvSpPr>
        <p:spPr>
          <a:xfrm>
            <a:off x="4791331" y="1143000"/>
            <a:ext cx="4041900" cy="548700"/>
          </a:xfrm>
          <a:prstGeom prst="rect">
            <a:avLst/>
          </a:prstGeom>
          <a:noFill/>
          <a:ln>
            <a:noFill/>
          </a:ln>
          <a:effectLst>
            <a:outerShdw blurRad="508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7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100"/>
              <a:buNone/>
              <a:defRPr sz="15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4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SzPts val="800"/>
              <a:buNone/>
              <a:defRPr sz="12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SzPts val="1200"/>
              <a:buFont typeface="Georgia"/>
              <a:buNone/>
              <a:defRPr sz="12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lvl="5" indent="-29845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marL="3200400" lvl="6" indent="-304800" algn="l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04800" algn="l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dt" idx="10"/>
          </p:nvPr>
        </p:nvSpPr>
        <p:spPr>
          <a:xfrm>
            <a:off x="5791200" y="4803738"/>
            <a:ext cx="3045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ftr" idx="11"/>
          </p:nvPr>
        </p:nvSpPr>
        <p:spPr>
          <a:xfrm>
            <a:off x="304800" y="4807458"/>
            <a:ext cx="3581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23" name="Google Shape;123;p18"/>
          <p:cNvCxnSpPr/>
          <p:nvPr/>
        </p:nvCxnSpPr>
        <p:spPr>
          <a:xfrm>
            <a:off x="152400" y="960120"/>
            <a:ext cx="8833200" cy="0"/>
          </a:xfrm>
          <a:prstGeom prst="straightConnector1">
            <a:avLst/>
          </a:prstGeom>
          <a:noFill/>
          <a:ln w="114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24" name="Google Shape;124;p18"/>
          <p:cNvSpPr/>
          <p:nvPr/>
        </p:nvSpPr>
        <p:spPr>
          <a:xfrm>
            <a:off x="152400" y="116586"/>
            <a:ext cx="8833200" cy="4910400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5" name="Google Shape;125;p18"/>
          <p:cNvSpPr txBox="1">
            <a:spLocks noGrp="1"/>
          </p:cNvSpPr>
          <p:nvPr>
            <p:ph type="body" idx="3"/>
          </p:nvPr>
        </p:nvSpPr>
        <p:spPr>
          <a:xfrm>
            <a:off x="301752" y="1853537"/>
            <a:ext cx="4041600" cy="28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1pPr>
            <a:lvl2pPr marL="914400" lvl="1" indent="-285750" algn="l">
              <a:spcBef>
                <a:spcPts val="300"/>
              </a:spcBef>
              <a:spcAft>
                <a:spcPts val="0"/>
              </a:spcAft>
              <a:buSzPts val="900"/>
              <a:buChar char="⚪"/>
              <a:defRPr/>
            </a:lvl2pPr>
            <a:lvl3pPr marL="1371600" lvl="2" indent="-292100" algn="l">
              <a:spcBef>
                <a:spcPts val="300"/>
              </a:spcBef>
              <a:spcAft>
                <a:spcPts val="0"/>
              </a:spcAft>
              <a:buSzPts val="1000"/>
              <a:buChar char="⯍"/>
              <a:defRPr/>
            </a:lvl3pPr>
            <a:lvl4pPr marL="1828800" lvl="3" indent="-285750" algn="l">
              <a:spcBef>
                <a:spcPts val="300"/>
              </a:spcBef>
              <a:spcAft>
                <a:spcPts val="0"/>
              </a:spcAft>
              <a:buSzPts val="900"/>
              <a:buChar char="🞆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29845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marL="3200400" lvl="6" indent="-304800" algn="l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04800" algn="l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8"/>
          <p:cNvSpPr txBox="1">
            <a:spLocks noGrp="1"/>
          </p:cNvSpPr>
          <p:nvPr>
            <p:ph type="body" idx="4"/>
          </p:nvPr>
        </p:nvSpPr>
        <p:spPr>
          <a:xfrm>
            <a:off x="4800600" y="1853537"/>
            <a:ext cx="4038600" cy="28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1pPr>
            <a:lvl2pPr marL="914400" lvl="1" indent="-285750" algn="l">
              <a:spcBef>
                <a:spcPts val="300"/>
              </a:spcBef>
              <a:spcAft>
                <a:spcPts val="0"/>
              </a:spcAft>
              <a:buSzPts val="900"/>
              <a:buChar char="⚪"/>
              <a:defRPr/>
            </a:lvl2pPr>
            <a:lvl3pPr marL="1371600" lvl="2" indent="-292100" algn="l">
              <a:spcBef>
                <a:spcPts val="300"/>
              </a:spcBef>
              <a:spcAft>
                <a:spcPts val="0"/>
              </a:spcAft>
              <a:buSzPts val="1000"/>
              <a:buChar char="⯍"/>
              <a:defRPr/>
            </a:lvl3pPr>
            <a:lvl4pPr marL="1828800" lvl="3" indent="-285750" algn="l">
              <a:spcBef>
                <a:spcPts val="300"/>
              </a:spcBef>
              <a:spcAft>
                <a:spcPts val="0"/>
              </a:spcAft>
              <a:buSzPts val="900"/>
              <a:buChar char="🞆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29845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marL="3200400" lvl="6" indent="-304800" algn="l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04800" algn="l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4267200" y="717027"/>
            <a:ext cx="6096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4361688" y="787893"/>
            <a:ext cx="420600" cy="315600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9" name="Google Shape;129;p18"/>
          <p:cNvSpPr txBox="1">
            <a:spLocks noGrp="1"/>
          </p:cNvSpPr>
          <p:nvPr>
            <p:ph type="sldNum" idx="12"/>
          </p:nvPr>
        </p:nvSpPr>
        <p:spPr>
          <a:xfrm>
            <a:off x="4343400" y="781813"/>
            <a:ext cx="4572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lvl="1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lvl="2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lvl="3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lvl="4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lvl="5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lvl="6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lvl="7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lvl="8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title"/>
          </p:nvPr>
        </p:nvSpPr>
        <p:spPr>
          <a:xfrm>
            <a:off x="301752" y="171450"/>
            <a:ext cx="85344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title"/>
          </p:nvPr>
        </p:nvSpPr>
        <p:spPr>
          <a:xfrm>
            <a:off x="301752" y="171450"/>
            <a:ext cx="85344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dt" idx="10"/>
          </p:nvPr>
        </p:nvSpPr>
        <p:spPr>
          <a:xfrm>
            <a:off x="5791200" y="4803738"/>
            <a:ext cx="3045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9"/>
          <p:cNvSpPr txBox="1">
            <a:spLocks noGrp="1"/>
          </p:cNvSpPr>
          <p:nvPr>
            <p:ph type="ftr" idx="11"/>
          </p:nvPr>
        </p:nvSpPr>
        <p:spPr>
          <a:xfrm>
            <a:off x="304800" y="4808136"/>
            <a:ext cx="3581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sldNum" idx="12"/>
          </p:nvPr>
        </p:nvSpPr>
        <p:spPr>
          <a:xfrm>
            <a:off x="4343400" y="777016"/>
            <a:ext cx="4572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0" y="0"/>
            <a:ext cx="9144000" cy="11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8991600" y="0"/>
            <a:ext cx="1524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1" name="Google Shape;141;p20"/>
          <p:cNvSpPr/>
          <p:nvPr/>
        </p:nvSpPr>
        <p:spPr>
          <a:xfrm>
            <a:off x="146304" y="4793743"/>
            <a:ext cx="8833200" cy="232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152400" y="118872"/>
            <a:ext cx="8833200" cy="4910400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3" name="Google Shape;143;p20"/>
          <p:cNvSpPr txBox="1">
            <a:spLocks noGrp="1"/>
          </p:cNvSpPr>
          <p:nvPr>
            <p:ph type="dt" idx="10"/>
          </p:nvPr>
        </p:nvSpPr>
        <p:spPr>
          <a:xfrm>
            <a:off x="5791200" y="4803738"/>
            <a:ext cx="3045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ftr" idx="11"/>
          </p:nvPr>
        </p:nvSpPr>
        <p:spPr>
          <a:xfrm>
            <a:off x="304800" y="4808136"/>
            <a:ext cx="3581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0"/>
          <p:cNvSpPr txBox="1">
            <a:spLocks noGrp="1"/>
          </p:cNvSpPr>
          <p:nvPr>
            <p:ph type="sldNum" idx="12"/>
          </p:nvPr>
        </p:nvSpPr>
        <p:spPr>
          <a:xfrm>
            <a:off x="4267200" y="4743450"/>
            <a:ext cx="6096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lvl="1" indent="0" algn="ct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lvl="2" indent="0" algn="ct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lvl="3" indent="0" algn="ct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lvl="4" indent="0" algn="ct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lvl="5" indent="0" algn="ct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lvl="6" indent="0" algn="ct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lvl="7" indent="0" algn="ct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lvl="8" indent="0" algn="ct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bg>
      <p:bgPr>
        <a:solidFill>
          <a:schemeClr val="lt1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/>
          <p:nvPr/>
        </p:nvSpPr>
        <p:spPr>
          <a:xfrm>
            <a:off x="152400" y="114300"/>
            <a:ext cx="88332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8991600" y="0"/>
            <a:ext cx="1524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0" y="0"/>
            <a:ext cx="9144000" cy="8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152400" y="457200"/>
            <a:ext cx="2743200" cy="4400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3" name="Google Shape;153;p21"/>
          <p:cNvSpPr txBox="1">
            <a:spLocks noGrp="1"/>
          </p:cNvSpPr>
          <p:nvPr>
            <p:ph type="title"/>
          </p:nvPr>
        </p:nvSpPr>
        <p:spPr>
          <a:xfrm>
            <a:off x="381000" y="685800"/>
            <a:ext cx="23622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Georgia"/>
              <a:buNone/>
              <a:defRPr sz="1700" b="1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1"/>
          <p:cNvSpPr txBox="1">
            <a:spLocks noGrp="1"/>
          </p:cNvSpPr>
          <p:nvPr>
            <p:ph type="body" idx="1"/>
          </p:nvPr>
        </p:nvSpPr>
        <p:spPr>
          <a:xfrm>
            <a:off x="381000" y="1485901"/>
            <a:ext cx="2362200" cy="31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FFFFF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6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SzPts val="5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SzPts val="700"/>
              <a:buFont typeface="Georgia"/>
              <a:buNone/>
              <a:defRPr sz="700"/>
            </a:lvl5pPr>
            <a:lvl6pPr marL="2743200" lvl="5" indent="-29845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marL="3200400" lvl="6" indent="-304800" algn="l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04800" algn="l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21"/>
          <p:cNvSpPr/>
          <p:nvPr/>
        </p:nvSpPr>
        <p:spPr>
          <a:xfrm>
            <a:off x="152400" y="114300"/>
            <a:ext cx="8833200" cy="4910400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56" name="Google Shape;156;p21"/>
          <p:cNvCxnSpPr/>
          <p:nvPr/>
        </p:nvCxnSpPr>
        <p:spPr>
          <a:xfrm>
            <a:off x="152400" y="400050"/>
            <a:ext cx="8833200" cy="0"/>
          </a:xfrm>
          <a:prstGeom prst="straightConnector1">
            <a:avLst/>
          </a:prstGeom>
          <a:noFill/>
          <a:ln w="114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57" name="Google Shape;157;p21"/>
          <p:cNvSpPr txBox="1">
            <a:spLocks noGrp="1"/>
          </p:cNvSpPr>
          <p:nvPr>
            <p:ph type="body" idx="2"/>
          </p:nvPr>
        </p:nvSpPr>
        <p:spPr>
          <a:xfrm>
            <a:off x="3124200" y="514350"/>
            <a:ext cx="5638800" cy="40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1pPr>
            <a:lvl2pPr marL="914400" lvl="1" indent="-285750" algn="l">
              <a:spcBef>
                <a:spcPts val="300"/>
              </a:spcBef>
              <a:spcAft>
                <a:spcPts val="0"/>
              </a:spcAft>
              <a:buSzPts val="900"/>
              <a:buChar char="⚪"/>
              <a:defRPr/>
            </a:lvl2pPr>
            <a:lvl3pPr marL="1371600" lvl="2" indent="-292100" algn="l">
              <a:spcBef>
                <a:spcPts val="300"/>
              </a:spcBef>
              <a:spcAft>
                <a:spcPts val="0"/>
              </a:spcAft>
              <a:buSzPts val="1000"/>
              <a:buChar char="⯍"/>
              <a:defRPr/>
            </a:lvl3pPr>
            <a:lvl4pPr marL="1828800" lvl="3" indent="-285750" algn="l">
              <a:spcBef>
                <a:spcPts val="300"/>
              </a:spcBef>
              <a:spcAft>
                <a:spcPts val="0"/>
              </a:spcAft>
              <a:buSzPts val="900"/>
              <a:buChar char="🞆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29845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marL="3200400" lvl="6" indent="-304800" algn="l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04800" algn="l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21"/>
          <p:cNvSpPr/>
          <p:nvPr/>
        </p:nvSpPr>
        <p:spPr>
          <a:xfrm>
            <a:off x="1295400" y="171450"/>
            <a:ext cx="6096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1389888" y="242316"/>
            <a:ext cx="420600" cy="315600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0" name="Google Shape;160;p21"/>
          <p:cNvSpPr txBox="1">
            <a:spLocks noGrp="1"/>
          </p:cNvSpPr>
          <p:nvPr>
            <p:ph type="sldNum" idx="12"/>
          </p:nvPr>
        </p:nvSpPr>
        <p:spPr>
          <a:xfrm>
            <a:off x="1371600" y="234554"/>
            <a:ext cx="4572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lvl="1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lvl="2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lvl="3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lvl="4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lvl="5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lvl="6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lvl="7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lvl="8" indent="0" algn="ctr">
              <a:spcBef>
                <a:spcPts val="0"/>
              </a:spcBef>
              <a:buNone/>
              <a:defRPr sz="12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1"/>
          <p:cNvSpPr/>
          <p:nvPr/>
        </p:nvSpPr>
        <p:spPr>
          <a:xfrm>
            <a:off x="149352" y="4791290"/>
            <a:ext cx="8833200" cy="232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2" name="Google Shape;162;p21"/>
          <p:cNvSpPr txBox="1">
            <a:spLocks noGrp="1"/>
          </p:cNvSpPr>
          <p:nvPr>
            <p:ph type="dt" idx="10"/>
          </p:nvPr>
        </p:nvSpPr>
        <p:spPr>
          <a:xfrm>
            <a:off x="5791200" y="4803738"/>
            <a:ext cx="3045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ftr" idx="11"/>
          </p:nvPr>
        </p:nvSpPr>
        <p:spPr>
          <a:xfrm>
            <a:off x="301752" y="4808136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" name="Google Shape;165;p22"/>
          <p:cNvCxnSpPr/>
          <p:nvPr/>
        </p:nvCxnSpPr>
        <p:spPr>
          <a:xfrm>
            <a:off x="152400" y="400050"/>
            <a:ext cx="8833200" cy="0"/>
          </a:xfrm>
          <a:prstGeom prst="straightConnector1">
            <a:avLst/>
          </a:prstGeom>
          <a:noFill/>
          <a:ln w="114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66" name="Google Shape;166;p2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7" name="Google Shape;167;p22"/>
          <p:cNvSpPr/>
          <p:nvPr/>
        </p:nvSpPr>
        <p:spPr>
          <a:xfrm>
            <a:off x="8991600" y="0"/>
            <a:ext cx="1524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8" name="Google Shape;168;p22"/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152400" y="114300"/>
            <a:ext cx="8833200" cy="226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1" name="Google Shape;171;p22"/>
          <p:cNvSpPr/>
          <p:nvPr/>
        </p:nvSpPr>
        <p:spPr>
          <a:xfrm>
            <a:off x="152400" y="457200"/>
            <a:ext cx="2743200" cy="4400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152400" y="116586"/>
            <a:ext cx="8833200" cy="4910400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1295400" y="171450"/>
            <a:ext cx="6096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1389888" y="242316"/>
            <a:ext cx="420600" cy="315600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5" name="Google Shape;175;p22"/>
          <p:cNvSpPr txBox="1">
            <a:spLocks noGrp="1"/>
          </p:cNvSpPr>
          <p:nvPr>
            <p:ph type="sldNum" idx="12"/>
          </p:nvPr>
        </p:nvSpPr>
        <p:spPr>
          <a:xfrm>
            <a:off x="1371600" y="234554"/>
            <a:ext cx="4572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title"/>
          </p:nvPr>
        </p:nvSpPr>
        <p:spPr>
          <a:xfrm>
            <a:off x="3000375" y="3771900"/>
            <a:ext cx="5867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eorgia"/>
              <a:buNone/>
              <a:defRPr sz="18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2"/>
          <p:cNvSpPr>
            <a:spLocks noGrp="1"/>
          </p:cNvSpPr>
          <p:nvPr>
            <p:ph type="pic" idx="2"/>
          </p:nvPr>
        </p:nvSpPr>
        <p:spPr>
          <a:xfrm>
            <a:off x="3000375" y="457200"/>
            <a:ext cx="5867400" cy="32004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2"/>
          <p:cNvSpPr txBox="1">
            <a:spLocks noGrp="1"/>
          </p:cNvSpPr>
          <p:nvPr>
            <p:ph type="body" idx="1"/>
          </p:nvPr>
        </p:nvSpPr>
        <p:spPr>
          <a:xfrm>
            <a:off x="381000" y="742950"/>
            <a:ext cx="2438400" cy="3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SzPts val="1000"/>
              <a:buFont typeface="Georgia"/>
              <a:buNone/>
              <a:defRPr sz="1200">
                <a:solidFill>
                  <a:srgbClr val="FFFFFF"/>
                </a:solidFill>
              </a:defRPr>
            </a:lvl1pPr>
            <a:lvl2pPr marL="914400" lvl="1" indent="-266700" algn="l">
              <a:spcBef>
                <a:spcPts val="800"/>
              </a:spcBef>
              <a:spcAft>
                <a:spcPts val="0"/>
              </a:spcAft>
              <a:buSzPts val="600"/>
              <a:buChar char="⚪"/>
              <a:defRPr sz="900"/>
            </a:lvl2pPr>
            <a:lvl3pPr marL="1371600" lvl="2" indent="-266700" algn="l">
              <a:spcBef>
                <a:spcPts val="200"/>
              </a:spcBef>
              <a:spcAft>
                <a:spcPts val="0"/>
              </a:spcAft>
              <a:buSzPts val="600"/>
              <a:buChar char="⯍"/>
              <a:defRPr sz="800"/>
            </a:lvl3pPr>
            <a:lvl4pPr marL="1828800" lvl="3" indent="-260350" algn="l">
              <a:spcBef>
                <a:spcPts val="100"/>
              </a:spcBef>
              <a:spcAft>
                <a:spcPts val="0"/>
              </a:spcAft>
              <a:buSzPts val="500"/>
              <a:buChar char="🞆"/>
              <a:defRPr sz="700"/>
            </a:lvl4pPr>
            <a:lvl5pPr marL="2286000" lvl="4" indent="-273050" algn="l">
              <a:spcBef>
                <a:spcPts val="100"/>
              </a:spcBef>
              <a:spcAft>
                <a:spcPts val="0"/>
              </a:spcAft>
              <a:buSzPts val="700"/>
              <a:buFont typeface="Georgia"/>
              <a:buChar char="•"/>
              <a:defRPr sz="700"/>
            </a:lvl5pPr>
            <a:lvl6pPr marL="2743200" lvl="5" indent="-29845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marL="3200400" lvl="6" indent="-304800" algn="l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04800" algn="l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22"/>
          <p:cNvSpPr/>
          <p:nvPr/>
        </p:nvSpPr>
        <p:spPr>
          <a:xfrm>
            <a:off x="149352" y="4791290"/>
            <a:ext cx="8833200" cy="232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0" name="Google Shape;180;p22"/>
          <p:cNvSpPr txBox="1">
            <a:spLocks noGrp="1"/>
          </p:cNvSpPr>
          <p:nvPr>
            <p:ph type="dt" idx="10"/>
          </p:nvPr>
        </p:nvSpPr>
        <p:spPr>
          <a:xfrm>
            <a:off x="5788152" y="4803738"/>
            <a:ext cx="3045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ftr" idx="11"/>
          </p:nvPr>
        </p:nvSpPr>
        <p:spPr>
          <a:xfrm>
            <a:off x="301752" y="4808136"/>
            <a:ext cx="3584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lt2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 txBox="1">
            <a:spLocks noGrp="1"/>
          </p:cNvSpPr>
          <p:nvPr>
            <p:ph type="title"/>
          </p:nvPr>
        </p:nvSpPr>
        <p:spPr>
          <a:xfrm>
            <a:off x="301752" y="171450"/>
            <a:ext cx="85344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3"/>
          <p:cNvSpPr txBox="1">
            <a:spLocks noGrp="1"/>
          </p:cNvSpPr>
          <p:nvPr>
            <p:ph type="body" idx="1"/>
          </p:nvPr>
        </p:nvSpPr>
        <p:spPr>
          <a:xfrm rot="5400000">
            <a:off x="2844102" y="-1399350"/>
            <a:ext cx="3449700" cy="85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1pPr>
            <a:lvl2pPr marL="914400" lvl="1" indent="-285750" algn="l">
              <a:spcBef>
                <a:spcPts val="300"/>
              </a:spcBef>
              <a:spcAft>
                <a:spcPts val="0"/>
              </a:spcAft>
              <a:buSzPts val="900"/>
              <a:buChar char="⚪"/>
              <a:defRPr/>
            </a:lvl2pPr>
            <a:lvl3pPr marL="1371600" lvl="2" indent="-292100" algn="l">
              <a:spcBef>
                <a:spcPts val="300"/>
              </a:spcBef>
              <a:spcAft>
                <a:spcPts val="0"/>
              </a:spcAft>
              <a:buSzPts val="1000"/>
              <a:buChar char="⯍"/>
              <a:defRPr/>
            </a:lvl3pPr>
            <a:lvl4pPr marL="1828800" lvl="3" indent="-285750" algn="l">
              <a:spcBef>
                <a:spcPts val="300"/>
              </a:spcBef>
              <a:spcAft>
                <a:spcPts val="0"/>
              </a:spcAft>
              <a:buSzPts val="900"/>
              <a:buChar char="🞆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29845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marL="3200400" lvl="6" indent="-304800" algn="l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04800" algn="l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23"/>
          <p:cNvSpPr txBox="1">
            <a:spLocks noGrp="1"/>
          </p:cNvSpPr>
          <p:nvPr>
            <p:ph type="dt" idx="10"/>
          </p:nvPr>
        </p:nvSpPr>
        <p:spPr>
          <a:xfrm>
            <a:off x="5791200" y="4803738"/>
            <a:ext cx="3045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3"/>
          <p:cNvSpPr txBox="1">
            <a:spLocks noGrp="1"/>
          </p:cNvSpPr>
          <p:nvPr>
            <p:ph type="ftr" idx="11"/>
          </p:nvPr>
        </p:nvSpPr>
        <p:spPr>
          <a:xfrm>
            <a:off x="304800" y="4808136"/>
            <a:ext cx="3581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3"/>
          <p:cNvSpPr txBox="1">
            <a:spLocks noGrp="1"/>
          </p:cNvSpPr>
          <p:nvPr>
            <p:ph type="sldNum" idx="12"/>
          </p:nvPr>
        </p:nvSpPr>
        <p:spPr>
          <a:xfrm>
            <a:off x="4343400" y="780131"/>
            <a:ext cx="4572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bg>
      <p:bgPr>
        <a:solidFill>
          <a:schemeClr val="lt2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0" name="Google Shape;190;p24"/>
          <p:cNvSpPr/>
          <p:nvPr/>
        </p:nvSpPr>
        <p:spPr>
          <a:xfrm>
            <a:off x="7010400" y="0"/>
            <a:ext cx="2133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1" name="Google Shape;191;p24"/>
          <p:cNvSpPr/>
          <p:nvPr/>
        </p:nvSpPr>
        <p:spPr>
          <a:xfrm>
            <a:off x="0" y="0"/>
            <a:ext cx="9144000" cy="11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2" name="Google Shape;192;p24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3" name="Google Shape;193;p24"/>
          <p:cNvSpPr/>
          <p:nvPr/>
        </p:nvSpPr>
        <p:spPr>
          <a:xfrm>
            <a:off x="146304" y="4793743"/>
            <a:ext cx="8833200" cy="232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4" name="Google Shape;194;p24"/>
          <p:cNvSpPr/>
          <p:nvPr/>
        </p:nvSpPr>
        <p:spPr>
          <a:xfrm>
            <a:off x="152400" y="116586"/>
            <a:ext cx="8833200" cy="4910400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95" name="Google Shape;195;p24"/>
          <p:cNvCxnSpPr/>
          <p:nvPr/>
        </p:nvCxnSpPr>
        <p:spPr>
          <a:xfrm rot="5400000">
            <a:off x="4802562" y="2458536"/>
            <a:ext cx="4683900" cy="0"/>
          </a:xfrm>
          <a:prstGeom prst="straightConnector1">
            <a:avLst/>
          </a:prstGeom>
          <a:noFill/>
          <a:ln w="95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96" name="Google Shape;196;p24"/>
          <p:cNvSpPr/>
          <p:nvPr/>
        </p:nvSpPr>
        <p:spPr>
          <a:xfrm>
            <a:off x="6839712" y="2194322"/>
            <a:ext cx="6096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7" name="Google Shape;197;p24"/>
          <p:cNvSpPr/>
          <p:nvPr/>
        </p:nvSpPr>
        <p:spPr>
          <a:xfrm>
            <a:off x="6934200" y="2265188"/>
            <a:ext cx="420600" cy="315600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8" name="Google Shape;198;p24"/>
          <p:cNvSpPr txBox="1">
            <a:spLocks noGrp="1"/>
          </p:cNvSpPr>
          <p:nvPr>
            <p:ph type="sldNum" idx="12"/>
          </p:nvPr>
        </p:nvSpPr>
        <p:spPr>
          <a:xfrm>
            <a:off x="6915912" y="2257427"/>
            <a:ext cx="4572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9" name="Google Shape;199;p24"/>
          <p:cNvSpPr txBox="1">
            <a:spLocks noGrp="1"/>
          </p:cNvSpPr>
          <p:nvPr>
            <p:ph type="body" idx="1"/>
          </p:nvPr>
        </p:nvSpPr>
        <p:spPr>
          <a:xfrm rot="5400000">
            <a:off x="1398450" y="-865050"/>
            <a:ext cx="4365900" cy="6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1pPr>
            <a:lvl2pPr marL="914400" lvl="1" indent="-285750" algn="l">
              <a:spcBef>
                <a:spcPts val="300"/>
              </a:spcBef>
              <a:spcAft>
                <a:spcPts val="0"/>
              </a:spcAft>
              <a:buSzPts val="900"/>
              <a:buChar char="⚪"/>
              <a:defRPr/>
            </a:lvl2pPr>
            <a:lvl3pPr marL="1371600" lvl="2" indent="-292100" algn="l">
              <a:spcBef>
                <a:spcPts val="300"/>
              </a:spcBef>
              <a:spcAft>
                <a:spcPts val="0"/>
              </a:spcAft>
              <a:buSzPts val="1000"/>
              <a:buChar char="⯍"/>
              <a:defRPr/>
            </a:lvl3pPr>
            <a:lvl4pPr marL="1828800" lvl="3" indent="-285750" algn="l">
              <a:spcBef>
                <a:spcPts val="300"/>
              </a:spcBef>
              <a:spcAft>
                <a:spcPts val="0"/>
              </a:spcAft>
              <a:buSzPts val="900"/>
              <a:buChar char="🞆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29845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marL="3200400" lvl="6" indent="-304800" algn="l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04800" algn="l"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24"/>
          <p:cNvSpPr txBox="1">
            <a:spLocks noGrp="1"/>
          </p:cNvSpPr>
          <p:nvPr>
            <p:ph type="dt" idx="10"/>
          </p:nvPr>
        </p:nvSpPr>
        <p:spPr>
          <a:xfrm>
            <a:off x="5791200" y="4803738"/>
            <a:ext cx="3045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24"/>
          <p:cNvSpPr txBox="1">
            <a:spLocks noGrp="1"/>
          </p:cNvSpPr>
          <p:nvPr>
            <p:ph type="ftr" idx="11"/>
          </p:nvPr>
        </p:nvSpPr>
        <p:spPr>
          <a:xfrm>
            <a:off x="304800" y="4808136"/>
            <a:ext cx="3581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24"/>
          <p:cNvSpPr txBox="1">
            <a:spLocks noGrp="1"/>
          </p:cNvSpPr>
          <p:nvPr>
            <p:ph type="title"/>
          </p:nvPr>
        </p:nvSpPr>
        <p:spPr>
          <a:xfrm rot="5400000">
            <a:off x="5920950" y="1699052"/>
            <a:ext cx="43887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0" y="1"/>
            <a:ext cx="9144000" cy="104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" name="Google Shape;54;p13"/>
          <p:cNvSpPr/>
          <p:nvPr/>
        </p:nvSpPr>
        <p:spPr>
          <a:xfrm>
            <a:off x="8991600" y="0"/>
            <a:ext cx="1524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149352" y="4791290"/>
            <a:ext cx="8833200" cy="232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dt" idx="10"/>
          </p:nvPr>
        </p:nvSpPr>
        <p:spPr>
          <a:xfrm>
            <a:off x="5791200" y="4803738"/>
            <a:ext cx="3045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ftr" idx="11"/>
          </p:nvPr>
        </p:nvSpPr>
        <p:spPr>
          <a:xfrm>
            <a:off x="304800" y="4808136"/>
            <a:ext cx="3581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152400" y="116586"/>
            <a:ext cx="8833200" cy="4910400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59" name="Google Shape;59;p13"/>
          <p:cNvCxnSpPr/>
          <p:nvPr/>
        </p:nvCxnSpPr>
        <p:spPr>
          <a:xfrm>
            <a:off x="152400" y="957557"/>
            <a:ext cx="8833200" cy="0"/>
          </a:xfrm>
          <a:prstGeom prst="straightConnector1">
            <a:avLst/>
          </a:prstGeom>
          <a:noFill/>
          <a:ln w="95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0" name="Google Shape;60;p13"/>
          <p:cNvSpPr/>
          <p:nvPr/>
        </p:nvSpPr>
        <p:spPr>
          <a:xfrm>
            <a:off x="4267200" y="717027"/>
            <a:ext cx="6096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4361688" y="787893"/>
            <a:ext cx="420600" cy="315600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" name="Google Shape;62;p13"/>
          <p:cNvSpPr txBox="1">
            <a:spLocks noGrp="1"/>
          </p:cNvSpPr>
          <p:nvPr>
            <p:ph type="sldNum" idx="12"/>
          </p:nvPr>
        </p:nvSpPr>
        <p:spPr>
          <a:xfrm>
            <a:off x="4343400" y="780131"/>
            <a:ext cx="4572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u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ctr" rtl="0">
              <a:spcBef>
                <a:spcPts val="0"/>
              </a:spcBef>
              <a:buNone/>
              <a:defRPr sz="1200" b="0" u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ctr" rtl="0">
              <a:spcBef>
                <a:spcPts val="0"/>
              </a:spcBef>
              <a:buNone/>
              <a:defRPr sz="1200" b="0" u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ctr" rtl="0">
              <a:spcBef>
                <a:spcPts val="0"/>
              </a:spcBef>
              <a:buNone/>
              <a:defRPr sz="1200" b="0" u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ctr" rtl="0">
              <a:spcBef>
                <a:spcPts val="0"/>
              </a:spcBef>
              <a:buNone/>
              <a:defRPr sz="1200" b="0" u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ctr" rtl="0">
              <a:spcBef>
                <a:spcPts val="0"/>
              </a:spcBef>
              <a:buNone/>
              <a:defRPr sz="1200" b="0" u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ctr" rtl="0">
              <a:spcBef>
                <a:spcPts val="0"/>
              </a:spcBef>
              <a:buNone/>
              <a:defRPr sz="1200" b="0" u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ctr" rtl="0">
              <a:spcBef>
                <a:spcPts val="0"/>
              </a:spcBef>
              <a:buNone/>
              <a:defRPr sz="1200" b="0" u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ctr" rtl="0">
              <a:spcBef>
                <a:spcPts val="0"/>
              </a:spcBef>
              <a:buNone/>
              <a:defRPr sz="1200" b="0" u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/>
          </p:nvPr>
        </p:nvSpPr>
        <p:spPr>
          <a:xfrm>
            <a:off x="301752" y="171450"/>
            <a:ext cx="85344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2500"/>
              <a:buFont typeface="Georgia"/>
              <a:buNone/>
              <a:defRPr sz="25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301752" y="1143000"/>
            <a:ext cx="8534400" cy="34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3655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⚪"/>
              <a:defRPr sz="17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2984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Noto Sans Symbols"/>
              <a:buChar char="⯍"/>
              <a:defRPr sz="15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298450" algn="l" rtl="0"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Noto Sans Symbols"/>
              <a:buChar char="🞆"/>
              <a:defRPr sz="15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Georgia"/>
              <a:buChar char="•"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298450" algn="l" rtl="0"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Noto Sans Symbols"/>
              <a:buChar char="⚫"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298450" algn="l" rtl="0">
              <a:spcBef>
                <a:spcPts val="200"/>
              </a:spcBef>
              <a:spcAft>
                <a:spcPts val="0"/>
              </a:spcAft>
              <a:buClr>
                <a:srgbClr val="B75640"/>
              </a:buClr>
              <a:buSzPts val="1100"/>
              <a:buFont typeface="Georgia"/>
              <a:buChar char="•"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04800" algn="l" rtl="0">
              <a:spcBef>
                <a:spcPts val="200"/>
              </a:spcBef>
              <a:spcAft>
                <a:spcPts val="0"/>
              </a:spcAft>
              <a:buClr>
                <a:srgbClr val="7A6B62"/>
              </a:buClr>
              <a:buSzPts val="1200"/>
              <a:buFont typeface="Georgia"/>
              <a:buChar char="•"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285750" algn="l" rtl="0">
              <a:spcBef>
                <a:spcPts val="200"/>
              </a:spcBef>
              <a:spcAft>
                <a:spcPts val="0"/>
              </a:spcAft>
              <a:buClr>
                <a:srgbClr val="B29D00"/>
              </a:buClr>
              <a:buSzPts val="900"/>
              <a:buFont typeface="Georgia"/>
              <a:buChar char="•"/>
              <a:defRPr sz="11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ecoconference.me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>
            <a:spLocks noGrp="1"/>
          </p:cNvSpPr>
          <p:nvPr>
            <p:ph type="subTitle" idx="1"/>
          </p:nvPr>
        </p:nvSpPr>
        <p:spPr>
          <a:xfrm>
            <a:off x="1257300" y="2114550"/>
            <a:ext cx="6629400" cy="117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5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ct val="83333"/>
              <a:buNone/>
            </a:pPr>
            <a:endParaRPr dirty="0"/>
          </a:p>
          <a:p>
            <a:pPr marL="0" lvl="0" indent="0" algn="ctr" rtl="0">
              <a:spcBef>
                <a:spcPts val="100"/>
              </a:spcBef>
              <a:spcAft>
                <a:spcPts val="0"/>
              </a:spcAft>
              <a:buSzPct val="83333"/>
              <a:buNone/>
            </a:pPr>
            <a:endParaRPr sz="2000" dirty="0"/>
          </a:p>
          <a:p>
            <a:pPr marL="0" lvl="0" indent="0">
              <a:spcBef>
                <a:spcPts val="100"/>
              </a:spcBef>
              <a:buSzPct val="86667"/>
            </a:pPr>
            <a:r>
              <a:rPr lang="en-GB" sz="2000" dirty="0">
                <a:solidFill>
                  <a:srgbClr val="002060"/>
                </a:solidFill>
              </a:rPr>
              <a:t>Debatra Banerjee, Irina Shpakovskaya, Dmitrii Kaplun, </a:t>
            </a:r>
            <a:r>
              <a:rPr lang="en-GB" sz="2000" dirty="0" err="1">
                <a:solidFill>
                  <a:srgbClr val="002060"/>
                </a:solidFill>
              </a:rPr>
              <a:t>Mahantapas</a:t>
            </a:r>
            <a:r>
              <a:rPr lang="en-GB" sz="2000" dirty="0">
                <a:solidFill>
                  <a:srgbClr val="002060"/>
                </a:solidFill>
              </a:rPr>
              <a:t> Kundu, Ram Sarkar</a:t>
            </a:r>
            <a:endParaRPr sz="2000" dirty="0"/>
          </a:p>
          <a:p>
            <a:pPr marL="0" lvl="0" indent="0" algn="ctr" rtl="0">
              <a:spcBef>
                <a:spcPts val="200"/>
              </a:spcBef>
              <a:spcAft>
                <a:spcPts val="0"/>
              </a:spcAft>
              <a:buSzPct val="83333"/>
              <a:buNone/>
            </a:pPr>
            <a:endParaRPr sz="2000" dirty="0">
              <a:solidFill>
                <a:srgbClr val="002060"/>
              </a:solidFill>
            </a:endParaRPr>
          </a:p>
          <a:p>
            <a:pPr marL="0" lvl="0" indent="0">
              <a:buSzPct val="83333"/>
            </a:pPr>
            <a:r>
              <a:rPr lang="en-GB" sz="1800" dirty="0">
                <a:solidFill>
                  <a:srgbClr val="002060"/>
                </a:solidFill>
              </a:rPr>
              <a:t>PRESENTED BY – </a:t>
            </a:r>
            <a:r>
              <a:rPr lang="en-GB" sz="2000" dirty="0">
                <a:solidFill>
                  <a:srgbClr val="002060"/>
                </a:solidFill>
              </a:rPr>
              <a:t>Debatra Banerjee</a:t>
            </a:r>
          </a:p>
          <a:p>
            <a:pPr marL="0" lvl="0" indent="0">
              <a:buSzPct val="83333"/>
            </a:pPr>
            <a:r>
              <a:rPr lang="en-GB" sz="1800" dirty="0">
                <a:solidFill>
                  <a:srgbClr val="002060"/>
                </a:solidFill>
              </a:rPr>
              <a:t>JADAVPUR UNIVERSITY, KOLKATA, INDIA</a:t>
            </a:r>
          </a:p>
          <a:p>
            <a:pPr marL="0" lvl="0" indent="0">
              <a:buSzPct val="83333"/>
            </a:pPr>
            <a:r>
              <a:rPr lang="en-GB" sz="1800" dirty="0">
                <a:solidFill>
                  <a:srgbClr val="002060"/>
                </a:solidFill>
              </a:rPr>
              <a:t>Paper ID- 11</a:t>
            </a:r>
            <a:endParaRPr dirty="0"/>
          </a:p>
          <a:p>
            <a:pPr marL="0" lvl="0" indent="0" algn="ctr" rtl="0">
              <a:spcBef>
                <a:spcPts val="200"/>
              </a:spcBef>
              <a:spcAft>
                <a:spcPts val="0"/>
              </a:spcAft>
              <a:buSzPct val="83333"/>
              <a:buNone/>
            </a:pPr>
            <a:endParaRPr sz="1800" dirty="0">
              <a:solidFill>
                <a:srgbClr val="002060"/>
              </a:solidFill>
            </a:endParaRPr>
          </a:p>
          <a:p>
            <a:pPr marL="0" lvl="0" indent="0" algn="ctr" rtl="0">
              <a:spcBef>
                <a:spcPts val="200"/>
              </a:spcBef>
              <a:spcAft>
                <a:spcPts val="0"/>
              </a:spcAft>
              <a:buSzPct val="83333"/>
              <a:buNone/>
            </a:pPr>
            <a:endParaRPr sz="1800" dirty="0"/>
          </a:p>
          <a:p>
            <a:pPr marL="0" lvl="0" indent="0" algn="ctr" rtl="0">
              <a:spcBef>
                <a:spcPts val="100"/>
              </a:spcBef>
              <a:spcAft>
                <a:spcPts val="0"/>
              </a:spcAft>
              <a:buSzPct val="90909"/>
              <a:buNone/>
            </a:pPr>
            <a:endParaRPr sz="1100" b="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200"/>
              </a:spcBef>
              <a:spcAft>
                <a:spcPts val="0"/>
              </a:spcAft>
              <a:buSzPct val="83333"/>
              <a:buNone/>
            </a:pPr>
            <a:endParaRPr sz="1800" dirty="0"/>
          </a:p>
        </p:txBody>
      </p:sp>
      <p:sp>
        <p:nvSpPr>
          <p:cNvPr id="209" name="Google Shape;209;p25"/>
          <p:cNvSpPr txBox="1">
            <a:spLocks noGrp="1"/>
          </p:cNvSpPr>
          <p:nvPr>
            <p:ph type="ctrTitle"/>
          </p:nvPr>
        </p:nvSpPr>
        <p:spPr>
          <a:xfrm>
            <a:off x="685800" y="285750"/>
            <a:ext cx="77724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lvl="0">
              <a:buSzPts val="1800"/>
            </a:pPr>
            <a:r>
              <a:rPr lang="en-US" sz="1800" b="1" dirty="0"/>
              <a:t>A Feature Modulation Block-aided Dual-Branch of Swin Transformer and Ensemble of CNN Models for Breast Cancer Classification</a:t>
            </a:r>
            <a:endParaRPr b="1" dirty="0"/>
          </a:p>
        </p:txBody>
      </p:sp>
      <p:sp>
        <p:nvSpPr>
          <p:cNvPr id="210" name="Google Shape;210;p25"/>
          <p:cNvSpPr/>
          <p:nvPr/>
        </p:nvSpPr>
        <p:spPr>
          <a:xfrm>
            <a:off x="1257300" y="3717277"/>
            <a:ext cx="6629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 dirty="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presented at MECO’2026 and CPSIoT’2026, Budva, Montenegro, June 09-12</a:t>
            </a:r>
            <a:endParaRPr sz="11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 u="sng" dirty="0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www.mecoconference.me</a:t>
            </a:r>
            <a:r>
              <a:rPr lang="en-GB" sz="1200" i="1" dirty="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100" dirty="0"/>
          </a:p>
        </p:txBody>
      </p:sp>
      <p:pic>
        <p:nvPicPr>
          <p:cNvPr id="211" name="Google Shape;211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3450" y="4207522"/>
            <a:ext cx="567847" cy="504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35669" y="4207523"/>
            <a:ext cx="514350" cy="491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>
            <a:spLocks noGrp="1"/>
          </p:cNvSpPr>
          <p:nvPr>
            <p:ph type="title"/>
          </p:nvPr>
        </p:nvSpPr>
        <p:spPr>
          <a:xfrm>
            <a:off x="301752" y="171450"/>
            <a:ext cx="85344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000"/>
              <a:buFont typeface="Georgia"/>
              <a:buNone/>
            </a:pPr>
            <a:r>
              <a:rPr lang="en-GB" sz="3000" b="1"/>
              <a:t>Outline</a:t>
            </a:r>
            <a:endParaRPr/>
          </a:p>
        </p:txBody>
      </p:sp>
      <p:sp>
        <p:nvSpPr>
          <p:cNvPr id="218" name="Google Shape;218;p26"/>
          <p:cNvSpPr txBox="1">
            <a:spLocks noGrp="1"/>
          </p:cNvSpPr>
          <p:nvPr>
            <p:ph type="body" idx="1"/>
          </p:nvPr>
        </p:nvSpPr>
        <p:spPr>
          <a:xfrm>
            <a:off x="1369325" y="971550"/>
            <a:ext cx="6378000" cy="36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203200" lvl="0" indent="-889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100" b="1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100" b="1">
                <a:solidFill>
                  <a:srgbClr val="002060"/>
                </a:solidFill>
              </a:rPr>
              <a:t>Problem definition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100" b="1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100" b="1">
                <a:solidFill>
                  <a:srgbClr val="002060"/>
                </a:solidFill>
              </a:rPr>
              <a:t>State-of-the-arts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100" b="1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100" b="1">
                <a:solidFill>
                  <a:srgbClr val="002060"/>
                </a:solidFill>
              </a:rPr>
              <a:t>Methods/Approach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100" b="1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100" b="1">
                <a:solidFill>
                  <a:srgbClr val="002060"/>
                </a:solidFill>
              </a:rPr>
              <a:t>Results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100" b="1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100" b="1">
                <a:solidFill>
                  <a:srgbClr val="002060"/>
                </a:solidFill>
              </a:rPr>
              <a:t>Conclusions</a:t>
            </a:r>
            <a:endParaRPr/>
          </a:p>
          <a:p>
            <a:pPr marL="203200" lvl="0" indent="-88900" algn="l" rtl="0">
              <a:spcBef>
                <a:spcPts val="400"/>
              </a:spcBef>
              <a:spcAft>
                <a:spcPts val="0"/>
              </a:spcAft>
              <a:buSzPts val="1700"/>
              <a:buNone/>
            </a:pPr>
            <a:endParaRPr>
              <a:solidFill>
                <a:srgbClr val="002060"/>
              </a:solidFill>
            </a:endParaRPr>
          </a:p>
        </p:txBody>
      </p:sp>
      <p:sp>
        <p:nvSpPr>
          <p:cNvPr id="219" name="Google Shape;219;p26"/>
          <p:cNvSpPr txBox="1">
            <a:spLocks noGrp="1"/>
          </p:cNvSpPr>
          <p:nvPr>
            <p:ph type="ftr" idx="11"/>
          </p:nvPr>
        </p:nvSpPr>
        <p:spPr>
          <a:xfrm>
            <a:off x="1257300" y="4808136"/>
            <a:ext cx="6629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MECO’2025 &amp; CPSIoT’2026, June 09-12, Budva, Montenegro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 txBox="1">
            <a:spLocks noGrp="1"/>
          </p:cNvSpPr>
          <p:nvPr>
            <p:ph type="title"/>
          </p:nvPr>
        </p:nvSpPr>
        <p:spPr>
          <a:xfrm>
            <a:off x="301752" y="171450"/>
            <a:ext cx="85344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000"/>
              <a:buFont typeface="Georgia"/>
              <a:buNone/>
            </a:pPr>
            <a:r>
              <a:rPr lang="en-GB" sz="3000" b="1"/>
              <a:t>Problem definition</a:t>
            </a:r>
            <a:endParaRPr/>
          </a:p>
        </p:txBody>
      </p:sp>
      <p:sp>
        <p:nvSpPr>
          <p:cNvPr id="225" name="Google Shape;225;p27"/>
          <p:cNvSpPr txBox="1">
            <a:spLocks noGrp="1"/>
          </p:cNvSpPr>
          <p:nvPr>
            <p:ph type="body" idx="1"/>
          </p:nvPr>
        </p:nvSpPr>
        <p:spPr>
          <a:xfrm>
            <a:off x="1379952" y="1173336"/>
            <a:ext cx="6378000" cy="3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C0392B"/>
                </a:solidFill>
              </a:rPr>
              <a:t>Clinical Challenge</a:t>
            </a:r>
            <a:endParaRPr dirty="0"/>
          </a:p>
          <a:p>
            <a:pPr marL="171450" indent="-171450">
              <a:spcBef>
                <a:spcPts val="200"/>
              </a:spcBef>
            </a:pPr>
            <a:r>
              <a:rPr lang="en-IN" sz="1200" dirty="0">
                <a:solidFill>
                  <a:srgbClr val="0070C0"/>
                </a:solidFill>
              </a:rPr>
              <a:t>Breast cancer remains a leading and deadly disease for women globally, making early and accurate detection vital for patient survival. </a:t>
            </a:r>
          </a:p>
          <a:p>
            <a:pPr marL="171450" indent="-171450">
              <a:spcBef>
                <a:spcPts val="200"/>
              </a:spcBef>
            </a:pPr>
            <a:r>
              <a:rPr lang="en-IN" sz="1200" dirty="0">
                <a:solidFill>
                  <a:srgbClr val="0070C0"/>
                </a:solidFill>
              </a:rPr>
              <a:t>While manual inspection of H&amp;E-stained biopsy slides is the clinical gold standard, it is highly time-consuming and subject to inter-observer variability.</a:t>
            </a:r>
          </a:p>
          <a:p>
            <a:pPr marL="0" lvl="0" indent="0">
              <a:spcBef>
                <a:spcPts val="200"/>
              </a:spcBef>
              <a:buNone/>
            </a:pPr>
            <a:endParaRPr dirty="0">
              <a:solidFill>
                <a:srgbClr val="0070C0"/>
              </a:solidFill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C0392B"/>
                </a:solidFill>
              </a:rPr>
              <a:t>Why is Whole slide Image Classification Hard?</a:t>
            </a:r>
            <a:endParaRPr dirty="0"/>
          </a:p>
          <a:p>
            <a:pPr marL="0" lvl="0" indent="0">
              <a:spcBef>
                <a:spcPts val="200"/>
              </a:spcBef>
              <a:buNone/>
            </a:pPr>
            <a:r>
              <a:rPr lang="en-GB" sz="1200" dirty="0">
                <a:solidFill>
                  <a:srgbClr val="0070C0"/>
                </a:solidFill>
              </a:rPr>
              <a:t>• </a:t>
            </a:r>
            <a:r>
              <a:rPr lang="en-IN" sz="1200" b="1" dirty="0">
                <a:solidFill>
                  <a:srgbClr val="0070C0"/>
                </a:solidFill>
              </a:rPr>
              <a:t>Texture vs. Structure:</a:t>
            </a:r>
            <a:r>
              <a:rPr lang="en-IN" sz="1200" dirty="0">
                <a:solidFill>
                  <a:srgbClr val="0070C0"/>
                </a:solidFill>
              </a:rPr>
              <a:t> Models struggle to jointly capture fine-grained cellular textures and large-scale tissue architectures.</a:t>
            </a:r>
          </a:p>
          <a:p>
            <a:pPr marL="0" lvl="0" indent="0">
              <a:spcBef>
                <a:spcPts val="200"/>
              </a:spcBef>
              <a:buNone/>
            </a:pPr>
            <a:r>
              <a:rPr lang="en-GB" sz="1200" dirty="0">
                <a:solidFill>
                  <a:srgbClr val="0070C0"/>
                </a:solidFill>
              </a:rPr>
              <a:t>• </a:t>
            </a:r>
            <a:r>
              <a:rPr lang="en-IN" sz="1200" b="1" dirty="0">
                <a:solidFill>
                  <a:srgbClr val="0070C0"/>
                </a:solidFill>
              </a:rPr>
              <a:t>CNN Limitations:</a:t>
            </a:r>
            <a:r>
              <a:rPr lang="en-IN" sz="1200" dirty="0">
                <a:solidFill>
                  <a:srgbClr val="0070C0"/>
                </a:solidFill>
              </a:rPr>
              <a:t> Convolutional networks excel at local spatial features but lack global semantic capturing ability.</a:t>
            </a:r>
            <a:endParaRPr dirty="0">
              <a:solidFill>
                <a:srgbClr val="0070C0"/>
              </a:solidFill>
            </a:endParaRPr>
          </a:p>
          <a:p>
            <a:pPr marL="0" lvl="0" indent="0">
              <a:spcBef>
                <a:spcPts val="200"/>
              </a:spcBef>
              <a:buNone/>
            </a:pPr>
            <a:r>
              <a:rPr lang="en-GB" sz="1200" dirty="0">
                <a:solidFill>
                  <a:srgbClr val="0070C0"/>
                </a:solidFill>
              </a:rPr>
              <a:t>• </a:t>
            </a:r>
            <a:r>
              <a:rPr lang="en-IN" sz="1200" b="1" dirty="0">
                <a:solidFill>
                  <a:srgbClr val="0070C0"/>
                </a:solidFill>
              </a:rPr>
              <a:t>Transformer Limitations:</a:t>
            </a:r>
            <a:r>
              <a:rPr lang="en-IN" sz="1200" dirty="0">
                <a:solidFill>
                  <a:srgbClr val="0070C0"/>
                </a:solidFill>
              </a:rPr>
              <a:t> Vision Transformers excel at global long-range context but struggle with highly detailed, local patterns</a:t>
            </a:r>
            <a:endParaRPr dirty="0">
              <a:solidFill>
                <a:srgbClr val="0070C0"/>
              </a:solidFill>
            </a:endParaRPr>
          </a:p>
          <a:p>
            <a:pPr marL="0" lvl="0" indent="0">
              <a:spcBef>
                <a:spcPts val="200"/>
              </a:spcBef>
              <a:buNone/>
            </a:pPr>
            <a:r>
              <a:rPr lang="en-GB" sz="1200" dirty="0">
                <a:solidFill>
                  <a:srgbClr val="0070C0"/>
                </a:solidFill>
              </a:rPr>
              <a:t>• </a:t>
            </a:r>
            <a:r>
              <a:rPr lang="en-IN" sz="1200" b="1" dirty="0">
                <a:solidFill>
                  <a:srgbClr val="0070C0"/>
                </a:solidFill>
              </a:rPr>
              <a:t>Dataset Artifacts:</a:t>
            </a:r>
            <a:r>
              <a:rPr lang="en-IN" sz="1200" dirty="0">
                <a:solidFill>
                  <a:srgbClr val="0070C0"/>
                </a:solidFill>
              </a:rPr>
              <a:t> Severe class imbalances, staining variations, and limited data availability heavily degrade model generalization.</a:t>
            </a:r>
            <a:endParaRPr dirty="0">
              <a:solidFill>
                <a:srgbClr val="0070C0"/>
              </a:solidFill>
            </a:endParaRPr>
          </a:p>
          <a:p>
            <a:pPr marL="203200" lvl="0" indent="-88900" algn="l" rtl="0">
              <a:spcBef>
                <a:spcPts val="400"/>
              </a:spcBef>
              <a:spcAft>
                <a:spcPts val="0"/>
              </a:spcAft>
              <a:buSzPts val="1700"/>
              <a:buNone/>
            </a:pPr>
            <a:endParaRPr dirty="0"/>
          </a:p>
        </p:txBody>
      </p:sp>
      <p:sp>
        <p:nvSpPr>
          <p:cNvPr id="226" name="Google Shape;226;p27"/>
          <p:cNvSpPr txBox="1">
            <a:spLocks noGrp="1"/>
          </p:cNvSpPr>
          <p:nvPr>
            <p:ph type="ftr" idx="11"/>
          </p:nvPr>
        </p:nvSpPr>
        <p:spPr>
          <a:xfrm>
            <a:off x="1257300" y="4808136"/>
            <a:ext cx="6629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MECO’2025 &amp; CPSIoT’2026, June 09-12, Budva, Montenegro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 txBox="1">
            <a:spLocks noGrp="1"/>
          </p:cNvSpPr>
          <p:nvPr>
            <p:ph type="title"/>
          </p:nvPr>
        </p:nvSpPr>
        <p:spPr>
          <a:xfrm>
            <a:off x="301752" y="171450"/>
            <a:ext cx="85344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000"/>
              <a:buFont typeface="Georgia"/>
              <a:buNone/>
            </a:pPr>
            <a:r>
              <a:rPr lang="en-GB" sz="3000" b="1" dirty="0"/>
              <a:t>Problem solution</a:t>
            </a:r>
            <a:endParaRPr dirty="0"/>
          </a:p>
        </p:txBody>
      </p:sp>
      <p:sp>
        <p:nvSpPr>
          <p:cNvPr id="225" name="Google Shape;225;p27"/>
          <p:cNvSpPr txBox="1">
            <a:spLocks noGrp="1"/>
          </p:cNvSpPr>
          <p:nvPr>
            <p:ph type="body" idx="1"/>
          </p:nvPr>
        </p:nvSpPr>
        <p:spPr>
          <a:xfrm>
            <a:off x="1369314" y="1028700"/>
            <a:ext cx="6378000" cy="3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03200" lvl="0" indent="-88900" algn="l" rtl="0">
              <a:spcBef>
                <a:spcPts val="4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C0392B"/>
                </a:solidFill>
              </a:rPr>
              <a:t>Proposed Solution</a:t>
            </a:r>
            <a:endParaRPr dirty="0"/>
          </a:p>
          <a:p>
            <a:pPr marL="285750" indent="-285750">
              <a:spcBef>
                <a:spcPts val="200"/>
              </a:spcBef>
            </a:pPr>
            <a:r>
              <a:rPr lang="en-IN" sz="1400" dirty="0">
                <a:solidFill>
                  <a:srgbClr val="0070C0"/>
                </a:solidFill>
              </a:rPr>
              <a:t>The proposed Swin-CNNs framework integrates a hierarchical Swin Transformer with a lightweight CNN ensemble (</a:t>
            </a:r>
            <a:r>
              <a:rPr lang="en-IN" sz="1400" dirty="0" err="1">
                <a:solidFill>
                  <a:srgbClr val="0070C0"/>
                </a:solidFill>
              </a:rPr>
              <a:t>SqueezeNet</a:t>
            </a:r>
            <a:r>
              <a:rPr lang="en-IN" sz="1400" dirty="0">
                <a:solidFill>
                  <a:srgbClr val="0070C0"/>
                </a:solidFill>
              </a:rPr>
              <a:t> 1.1 and </a:t>
            </a:r>
            <a:r>
              <a:rPr lang="en-IN" sz="1400" dirty="0" err="1">
                <a:solidFill>
                  <a:srgbClr val="0070C0"/>
                </a:solidFill>
              </a:rPr>
              <a:t>ShuffleNet</a:t>
            </a:r>
            <a:r>
              <a:rPr lang="en-IN" sz="1400" dirty="0">
                <a:solidFill>
                  <a:srgbClr val="0070C0"/>
                </a:solidFill>
              </a:rPr>
              <a:t> v2 x1.0) via a Feature-wise Linear Modulation (</a:t>
            </a:r>
            <a:r>
              <a:rPr lang="en-IN" sz="1400" dirty="0" err="1">
                <a:solidFill>
                  <a:srgbClr val="0070C0"/>
                </a:solidFill>
              </a:rPr>
              <a:t>FiLM</a:t>
            </a:r>
            <a:r>
              <a:rPr lang="en-IN" sz="1400" dirty="0">
                <a:solidFill>
                  <a:srgbClr val="0070C0"/>
                </a:solidFill>
              </a:rPr>
              <a:t>) module. </a:t>
            </a:r>
          </a:p>
          <a:p>
            <a:pPr marL="285750" indent="-285750">
              <a:spcBef>
                <a:spcPts val="200"/>
              </a:spcBef>
            </a:pPr>
            <a:endParaRPr lang="en-IN" sz="1400" dirty="0">
              <a:solidFill>
                <a:srgbClr val="0070C0"/>
              </a:solidFill>
            </a:endParaRPr>
          </a:p>
          <a:p>
            <a:pPr marL="285750" indent="-285750">
              <a:spcBef>
                <a:spcPts val="200"/>
              </a:spcBef>
            </a:pPr>
            <a:r>
              <a:rPr lang="en-IN" sz="1400" dirty="0">
                <a:solidFill>
                  <a:srgbClr val="0070C0"/>
                </a:solidFill>
              </a:rPr>
              <a:t>This allows transformer-derived global semantics to dynamically modulate local CNN spatial features, creating a highly discriminative, context-aware representation. </a:t>
            </a:r>
          </a:p>
          <a:p>
            <a:pPr marL="285750" indent="-285750">
              <a:spcBef>
                <a:spcPts val="200"/>
              </a:spcBef>
            </a:pPr>
            <a:endParaRPr lang="en-IN" sz="1400" dirty="0">
              <a:solidFill>
                <a:srgbClr val="0070C0"/>
              </a:solidFill>
            </a:endParaRPr>
          </a:p>
          <a:p>
            <a:pPr marL="285750" indent="-285750">
              <a:spcBef>
                <a:spcPts val="200"/>
              </a:spcBef>
            </a:pPr>
            <a:r>
              <a:rPr lang="en-IN" sz="1400" dirty="0">
                <a:solidFill>
                  <a:srgbClr val="0070C0"/>
                </a:solidFill>
              </a:rPr>
              <a:t>The model achieves exceptional test accuracies of 97.05% on the </a:t>
            </a:r>
            <a:r>
              <a:rPr lang="en-IN" sz="1400" dirty="0" err="1">
                <a:solidFill>
                  <a:srgbClr val="0070C0"/>
                </a:solidFill>
              </a:rPr>
              <a:t>BreakHis</a:t>
            </a:r>
            <a:r>
              <a:rPr lang="en-IN" sz="1400" dirty="0">
                <a:solidFill>
                  <a:srgbClr val="0070C0"/>
                </a:solidFill>
              </a:rPr>
              <a:t> dataset and 99% on the BACH dataset. </a:t>
            </a:r>
            <a:endParaRPr sz="2400" dirty="0">
              <a:solidFill>
                <a:srgbClr val="0070C0"/>
              </a:solidFill>
            </a:endParaRPr>
          </a:p>
        </p:txBody>
      </p:sp>
      <p:sp>
        <p:nvSpPr>
          <p:cNvPr id="226" name="Google Shape;226;p27"/>
          <p:cNvSpPr txBox="1">
            <a:spLocks noGrp="1"/>
          </p:cNvSpPr>
          <p:nvPr>
            <p:ph type="ftr" idx="11"/>
          </p:nvPr>
        </p:nvSpPr>
        <p:spPr>
          <a:xfrm>
            <a:off x="1257300" y="4808136"/>
            <a:ext cx="6629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MECO’2025 &amp; CPSIoT’2026, June 09-12, Budva, Montenegro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71652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8"/>
          <p:cNvSpPr txBox="1">
            <a:spLocks noGrp="1"/>
          </p:cNvSpPr>
          <p:nvPr>
            <p:ph type="title"/>
          </p:nvPr>
        </p:nvSpPr>
        <p:spPr>
          <a:xfrm>
            <a:off x="301752" y="171450"/>
            <a:ext cx="85344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A0AC"/>
              </a:buClr>
              <a:buSzPts val="3000"/>
              <a:buFont typeface="Georgia"/>
              <a:buNone/>
            </a:pPr>
            <a:r>
              <a:rPr lang="en-GB" sz="3000" b="1">
                <a:solidFill>
                  <a:srgbClr val="88A0AC"/>
                </a:solidFill>
              </a:rPr>
              <a:t>State-of-the-art</a:t>
            </a:r>
            <a:endParaRPr/>
          </a:p>
        </p:txBody>
      </p:sp>
      <p:sp>
        <p:nvSpPr>
          <p:cNvPr id="232" name="Google Shape;232;p28"/>
          <p:cNvSpPr txBox="1"/>
          <p:nvPr/>
        </p:nvSpPr>
        <p:spPr>
          <a:xfrm>
            <a:off x="1369314" y="171450"/>
            <a:ext cx="64008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000"/>
              <a:buFont typeface="Georgia"/>
              <a:buNone/>
            </a:pPr>
            <a:endParaRPr sz="3000" b="1">
              <a:solidFill>
                <a:srgbClr val="88A0AC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3" name="Google Shape;233;p28"/>
          <p:cNvSpPr txBox="1"/>
          <p:nvPr/>
        </p:nvSpPr>
        <p:spPr>
          <a:xfrm>
            <a:off x="1321700" y="4792261"/>
            <a:ext cx="6629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MECO’2026 &amp; CPSIoT’2026, June 09-12, Budva, Montenegro </a:t>
            </a:r>
            <a:endParaRPr sz="1100"/>
          </a:p>
        </p:txBody>
      </p:sp>
      <p:graphicFrame>
        <p:nvGraphicFramePr>
          <p:cNvPr id="234" name="Google Shape;234;p28"/>
          <p:cNvGraphicFramePr/>
          <p:nvPr>
            <p:extLst>
              <p:ext uri="{D42A27DB-BD31-4B8C-83A1-F6EECF244321}">
                <p14:modId xmlns:p14="http://schemas.microsoft.com/office/powerpoint/2010/main" val="2287875669"/>
              </p:ext>
            </p:extLst>
          </p:nvPr>
        </p:nvGraphicFramePr>
        <p:xfrm>
          <a:off x="940699" y="1449529"/>
          <a:ext cx="7556531" cy="3124559"/>
        </p:xfrm>
        <a:graphic>
          <a:graphicData uri="http://schemas.openxmlformats.org/drawingml/2006/table">
            <a:tbl>
              <a:tblPr>
                <a:noFill/>
                <a:tableStyleId>{73AD59BF-AE14-4729-9DF6-E612FE60587F}</a:tableStyleId>
              </a:tblPr>
              <a:tblGrid>
                <a:gridCol w="1898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7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22615">
                  <a:extLst>
                    <a:ext uri="{9D8B030D-6E8A-4147-A177-3AD203B41FA5}">
                      <a16:colId xmlns:a16="http://schemas.microsoft.com/office/drawing/2014/main" val="1755406544"/>
                    </a:ext>
                  </a:extLst>
                </a:gridCol>
              </a:tblGrid>
              <a:tr h="24883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Authors</a:t>
                      </a:r>
                      <a:endParaRPr sz="1400" u="none" strike="noStrike" cap="none" dirty="0"/>
                    </a:p>
                  </a:txBody>
                  <a:tcPr marL="57150" marR="57150" marT="28575" marB="28575" anchor="ctr">
                    <a:lnL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Method</a:t>
                      </a:r>
                      <a:endParaRPr sz="1400" u="none" strike="noStrike" cap="none"/>
                    </a:p>
                  </a:txBody>
                  <a:tcPr marL="57150" marR="57150" marT="28575" marB="28575" anchor="ctr">
                    <a:lnL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Accuracy</a:t>
                      </a:r>
                      <a:endParaRPr sz="1400" u="none" strike="noStrike" cap="none" dirty="0"/>
                    </a:p>
                  </a:txBody>
                  <a:tcPr marL="57150" marR="57150" marT="28575" marB="28575" anchor="ctr">
                    <a:lnL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sz="1100" b="1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57150" marR="57150" marT="28575" marB="28575" anchor="ctr">
                    <a:lnL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8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Desai et al[8]</a:t>
                      </a:r>
                      <a:endParaRPr sz="1400" u="none" strike="noStrike" cap="none" dirty="0"/>
                    </a:p>
                  </a:txBody>
                  <a:tcPr marL="57150" marR="57150" marT="28575" marB="28575" anchor="ctr">
                    <a:lnL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ResNet</a:t>
                      </a:r>
                      <a:r>
                        <a:rPr lang="en-GB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GB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ar-chitectures</a:t>
                      </a:r>
                      <a:endParaRPr sz="900" u="none" strike="noStrike" cap="none" dirty="0"/>
                    </a:p>
                  </a:txBody>
                  <a:tcPr marL="57150" marR="57150" marT="28575" marB="28575" anchor="ctr">
                    <a:lnL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0.97</a:t>
                      </a:r>
                      <a:endParaRPr sz="900" u="none" strike="noStrike" cap="none" dirty="0"/>
                    </a:p>
                  </a:txBody>
                  <a:tcPr marL="57150" marR="57150" marT="28575" marB="28575" anchor="ctr">
                    <a:lnL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sz="900" dirty="0" err="1">
                          <a:solidFill>
                            <a:srgbClr val="0070C0"/>
                          </a:solidFill>
                        </a:rPr>
                        <a:t>ResNet</a:t>
                      </a:r>
                      <a:r>
                        <a:rPr lang="en-US" sz="900" dirty="0">
                          <a:solidFill>
                            <a:srgbClr val="0070C0"/>
                          </a:solidFill>
                        </a:rPr>
                        <a:t> architectures: fine-tuned deep residual CNNs for multi-class breast-cancer subtype classification.</a:t>
                      </a:r>
                    </a:p>
                  </a:txBody>
                  <a:tcPr marL="57150" marR="57150" marT="28575" marB="28575" anchor="ctr">
                    <a:lnL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6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IN" sz="900" u="none" strike="noStrike" cap="none" dirty="0"/>
                        <a:t>Lekha S. Nair et al.[9]</a:t>
                      </a:r>
                      <a:endParaRPr sz="900" u="none" strike="noStrike" cap="none" dirty="0"/>
                    </a:p>
                  </a:txBody>
                  <a:tcPr marL="57150" marR="57150" marT="28575" marB="28575" anchor="ctr">
                    <a:lnL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IN" sz="900" u="none" strike="noStrike" cap="none" dirty="0"/>
                        <a:t>SE-Conformer</a:t>
                      </a:r>
                      <a:endParaRPr sz="900" u="none" strike="noStrike" cap="none" dirty="0"/>
                    </a:p>
                  </a:txBody>
                  <a:tcPr marL="57150" marR="57150" marT="28575" marB="28575" anchor="ctr">
                    <a:lnL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/>
                        <a:t>0.97</a:t>
                      </a:r>
                      <a:endParaRPr sz="900" u="none" strike="noStrike" cap="none" dirty="0"/>
                    </a:p>
                  </a:txBody>
                  <a:tcPr marL="57150" marR="57150" marT="28575" marB="28575" anchor="ctr">
                    <a:lnL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rgbClr val="0070C0"/>
                          </a:solidFill>
                        </a:rPr>
                        <a:t>SE-Conformer: combined Squeeze-and-Excitation channel attention with a Conformer hybrid for malignancy detection.</a:t>
                      </a:r>
                    </a:p>
                  </a:txBody>
                  <a:tcPr marL="57150" marR="57150" marT="28575" marB="28575" anchor="ctr">
                    <a:lnL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840134"/>
                  </a:ext>
                </a:extLst>
              </a:tr>
              <a:tr h="4638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IN" sz="900" u="none" strike="noStrike" cap="none" dirty="0"/>
                        <a:t>Yıldız et al.[10]</a:t>
                      </a:r>
                      <a:endParaRPr sz="900" u="none" strike="noStrike" cap="none" dirty="0"/>
                    </a:p>
                  </a:txBody>
                  <a:tcPr marL="57150" marR="57150" marT="28575" marB="28575" anchor="ctr">
                    <a:lnL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IN" sz="900" u="none" strike="noStrike" cap="none" dirty="0"/>
                        <a:t>Deep ensemble</a:t>
                      </a:r>
                      <a:endParaRPr sz="900" u="none" strike="noStrike" cap="none" dirty="0"/>
                    </a:p>
                  </a:txBody>
                  <a:tcPr marL="57150" marR="57150" marT="28575" marB="28575" anchor="ctr">
                    <a:lnL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/>
                        <a:t>0.93</a:t>
                      </a:r>
                      <a:endParaRPr sz="900" u="none" strike="noStrike" cap="none" dirty="0"/>
                    </a:p>
                  </a:txBody>
                  <a:tcPr marL="57150" marR="57150" marT="28575" marB="28575" anchor="ctr">
                    <a:lnL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rgbClr val="0070C0"/>
                          </a:solidFill>
                        </a:rPr>
                        <a:t>Deep ensemble: aggregated multiple CNN backbones for robust diagnosis of cancer subtypes.</a:t>
                      </a:r>
                    </a:p>
                  </a:txBody>
                  <a:tcPr marL="57150" marR="57150" marT="28575" marB="28575" anchor="ctr">
                    <a:lnL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1688605"/>
                  </a:ext>
                </a:extLst>
              </a:tr>
              <a:tr h="4638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IN" sz="900" u="none" strike="noStrike" cap="none" dirty="0"/>
                        <a:t>Fatima et al.[11]</a:t>
                      </a:r>
                      <a:endParaRPr sz="900" u="none" strike="noStrike" cap="none" dirty="0"/>
                    </a:p>
                  </a:txBody>
                  <a:tcPr marL="57150" marR="57150" marT="28575" marB="28575" anchor="ctr">
                    <a:lnL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IN" sz="900" u="none" strike="noStrike" cap="none" dirty="0"/>
                        <a:t>VGG16-TL</a:t>
                      </a:r>
                      <a:endParaRPr sz="900" u="none" strike="noStrike" cap="none" dirty="0"/>
                    </a:p>
                  </a:txBody>
                  <a:tcPr marL="57150" marR="57150" marT="28575" marB="28575" anchor="ctr">
                    <a:lnL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/>
                        <a:t>0.95</a:t>
                      </a:r>
                      <a:endParaRPr sz="900" u="none" strike="noStrike" cap="none" dirty="0"/>
                    </a:p>
                  </a:txBody>
                  <a:tcPr marL="57150" marR="57150" marT="28575" marB="28575" anchor="ctr">
                    <a:lnL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rgbClr val="0070C0"/>
                          </a:solidFill>
                        </a:rPr>
                        <a:t>VGG16 transfer learning: leveraged ImageNet-pretrained VGG16 features with a comparative ML analysis.</a:t>
                      </a:r>
                    </a:p>
                  </a:txBody>
                  <a:tcPr marL="57150" marR="57150" marT="28575" marB="28575" anchor="ctr">
                    <a:lnL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913943"/>
                  </a:ext>
                </a:extLst>
              </a:tr>
              <a:tr h="5996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Cai et al.[7]</a:t>
                      </a:r>
                      <a:endParaRPr sz="1400" u="none" strike="noStrike" cap="none" dirty="0"/>
                    </a:p>
                  </a:txBody>
                  <a:tcPr marL="57150" marR="57150" marT="28575" marB="28575" anchor="ctr">
                    <a:lnL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AMRM-</a:t>
                      </a:r>
                      <a:r>
                        <a:rPr lang="en-GB" sz="9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ResNet</a:t>
                      </a:r>
                      <a:endParaRPr sz="900" u="none" strike="noStrike" cap="none" dirty="0"/>
                    </a:p>
                  </a:txBody>
                  <a:tcPr marL="57150" marR="57150" marT="28575" marB="28575" anchor="ctr">
                    <a:lnL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0.96</a:t>
                      </a:r>
                      <a:endParaRPr sz="900" u="none" strike="noStrike" cap="none" dirty="0"/>
                    </a:p>
                  </a:txBody>
                  <a:tcPr marL="57150" marR="57150" marT="28575" marB="28575" anchor="ctr">
                    <a:lnL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dirty="0">
                          <a:solidFill>
                            <a:srgbClr val="0070C0"/>
                          </a:solidFill>
                        </a:rPr>
                        <a:t>AMRM (Attention-based Mask Reconstruction) on a </a:t>
                      </a:r>
                      <a:r>
                        <a:rPr lang="en-US" sz="900" dirty="0" err="1">
                          <a:solidFill>
                            <a:srgbClr val="0070C0"/>
                          </a:solidFill>
                        </a:rPr>
                        <a:t>ResNet</a:t>
                      </a:r>
                      <a:r>
                        <a:rPr lang="en-US" sz="900" dirty="0">
                          <a:solidFill>
                            <a:srgbClr val="0070C0"/>
                          </a:solidFill>
                        </a:rPr>
                        <a:t> backbone for multi-class histopathology classification.</a:t>
                      </a:r>
                      <a:endParaRPr sz="900" u="none" strike="noStrike" cap="none" dirty="0"/>
                    </a:p>
                  </a:txBody>
                  <a:tcPr marL="57150" marR="57150" marT="28575" marB="28575" anchor="ctr">
                    <a:lnL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77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Proposed </a:t>
                      </a:r>
                      <a:endParaRPr sz="1400" b="1" u="none" strike="noStrike" cap="none" dirty="0"/>
                    </a:p>
                  </a:txBody>
                  <a:tcPr marL="57150" marR="57150" marT="28575" marB="28575" anchor="ctr">
                    <a:lnL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Swin-CNNs</a:t>
                      </a:r>
                      <a:endParaRPr sz="900" b="1" u="none" strike="noStrike" cap="none" dirty="0"/>
                    </a:p>
                  </a:txBody>
                  <a:tcPr marL="57150" marR="57150" marT="28575" marB="28575" anchor="ctr">
                    <a:lnL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0.99</a:t>
                      </a:r>
                      <a:endParaRPr sz="1400" b="1" u="none" strike="noStrike" cap="none" dirty="0"/>
                    </a:p>
                  </a:txBody>
                  <a:tcPr marL="57150" marR="57150" marT="28575" marB="28575" anchor="ctr">
                    <a:lnL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400" b="1" u="none" strike="noStrike" cap="none" dirty="0"/>
                    </a:p>
                  </a:txBody>
                  <a:tcPr marL="57150" marR="57150" marT="28575" marB="28575" anchor="ctr">
                    <a:lnL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5" name="Google Shape;235;p28"/>
          <p:cNvSpPr txBox="1"/>
          <p:nvPr/>
        </p:nvSpPr>
        <p:spPr>
          <a:xfrm>
            <a:off x="1451090" y="810489"/>
            <a:ext cx="20001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1518"/>
              </a:buClr>
              <a:buSzPts val="1400"/>
              <a:buFont typeface="Georgia"/>
              <a:buNone/>
            </a:pPr>
            <a:r>
              <a:rPr lang="en-GB" sz="1400" b="1" dirty="0" err="1">
                <a:solidFill>
                  <a:srgbClr val="101518"/>
                </a:solidFill>
                <a:latin typeface="Georgia"/>
                <a:ea typeface="Georgia"/>
                <a:cs typeface="Georgia"/>
                <a:sym typeface="Georgia"/>
              </a:rPr>
              <a:t>BreakHis</a:t>
            </a:r>
            <a:r>
              <a:rPr lang="en-GB" sz="1400" b="1" dirty="0">
                <a:solidFill>
                  <a:srgbClr val="101518"/>
                </a:solidFill>
                <a:latin typeface="Georgia"/>
                <a:ea typeface="Georgia"/>
                <a:cs typeface="Georgia"/>
                <a:sym typeface="Georgia"/>
              </a:rPr>
              <a:t> Dataset</a:t>
            </a:r>
            <a:endParaRPr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9"/>
          <p:cNvSpPr txBox="1">
            <a:spLocks noGrp="1"/>
          </p:cNvSpPr>
          <p:nvPr>
            <p:ph type="title"/>
          </p:nvPr>
        </p:nvSpPr>
        <p:spPr>
          <a:xfrm>
            <a:off x="301752" y="171450"/>
            <a:ext cx="85344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A0AC"/>
              </a:buClr>
              <a:buSzPts val="3000"/>
              <a:buFont typeface="Georgia"/>
              <a:buNone/>
            </a:pPr>
            <a:r>
              <a:rPr lang="en-GB" sz="3000" b="1">
                <a:solidFill>
                  <a:srgbClr val="88A0AC"/>
                </a:solidFill>
              </a:rPr>
              <a:t>State-of-the-art</a:t>
            </a:r>
            <a:endParaRPr/>
          </a:p>
        </p:txBody>
      </p:sp>
      <p:sp>
        <p:nvSpPr>
          <p:cNvPr id="241" name="Google Shape;241;p29"/>
          <p:cNvSpPr txBox="1"/>
          <p:nvPr/>
        </p:nvSpPr>
        <p:spPr>
          <a:xfrm>
            <a:off x="1369314" y="171450"/>
            <a:ext cx="64008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000"/>
              <a:buFont typeface="Georgia"/>
              <a:buNone/>
            </a:pPr>
            <a:endParaRPr sz="3000" b="1">
              <a:solidFill>
                <a:srgbClr val="88A0AC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242" name="Google Shape;242;p29"/>
          <p:cNvGraphicFramePr/>
          <p:nvPr>
            <p:extLst>
              <p:ext uri="{D42A27DB-BD31-4B8C-83A1-F6EECF244321}">
                <p14:modId xmlns:p14="http://schemas.microsoft.com/office/powerpoint/2010/main" val="898214528"/>
              </p:ext>
            </p:extLst>
          </p:nvPr>
        </p:nvGraphicFramePr>
        <p:xfrm>
          <a:off x="700713" y="1336364"/>
          <a:ext cx="7736477" cy="3261872"/>
        </p:xfrm>
        <a:graphic>
          <a:graphicData uri="http://schemas.openxmlformats.org/drawingml/2006/table">
            <a:tbl>
              <a:tblPr>
                <a:noFill/>
                <a:tableStyleId>{73AD59BF-AE14-4729-9DF6-E612FE60587F}</a:tableStyleId>
              </a:tblPr>
              <a:tblGrid>
                <a:gridCol w="228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5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26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022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104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Authors</a:t>
                      </a:r>
                      <a:endParaRPr sz="1400" u="none" strike="noStrike" cap="none"/>
                    </a:p>
                  </a:txBody>
                  <a:tcPr marL="57150" marR="57150" marT="28575" marB="28575" anchor="ctr">
                    <a:lnL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Method</a:t>
                      </a:r>
                      <a:endParaRPr sz="1400" u="none" strike="noStrike" cap="none" dirty="0"/>
                    </a:p>
                  </a:txBody>
                  <a:tcPr marL="57150" marR="57150" marT="28575" marB="28575" anchor="ctr">
                    <a:lnL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Accuracy</a:t>
                      </a:r>
                      <a:endParaRPr sz="1400" u="none" strike="noStrike" cap="none" dirty="0"/>
                    </a:p>
                  </a:txBody>
                  <a:tcPr marL="57150" marR="57150" marT="28575" marB="28575" anchor="ctr">
                    <a:lnL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cs typeface="Arial"/>
                          <a:sym typeface="Arial"/>
                        </a:rPr>
                        <a:t>Description</a:t>
                      </a:r>
                      <a:endParaRPr sz="1400" u="none" strike="noStrike" cap="none" dirty="0"/>
                    </a:p>
                  </a:txBody>
                  <a:tcPr marL="57150" marR="57150" marT="28575" marB="28575" anchor="ctr">
                    <a:lnL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11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Nazeri et al.[22]</a:t>
                      </a:r>
                      <a:endParaRPr sz="1400" u="none" strike="noStrike" cap="none" dirty="0"/>
                    </a:p>
                  </a:txBody>
                  <a:tcPr marL="57150" marR="57150" marT="28575" marB="28575" anchor="ctr">
                    <a:lnL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Two-stage CNN</a:t>
                      </a:r>
                      <a:endParaRPr sz="1400" u="none" strike="noStrike" cap="none" dirty="0"/>
                    </a:p>
                  </a:txBody>
                  <a:tcPr marL="57150" marR="57150" marT="28575" marB="28575" anchor="ctr">
                    <a:lnL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0.95</a:t>
                      </a:r>
                      <a:endParaRPr sz="1400" u="none" strike="noStrike" cap="none" dirty="0"/>
                    </a:p>
                  </a:txBody>
                  <a:tcPr marL="57150" marR="57150" marT="28575" marB="28575" anchor="ctr">
                    <a:lnL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rgbClr val="0070C0"/>
                          </a:solidFill>
                        </a:rPr>
                        <a:t>Two-stage CNN: a coarse-to-fine convolutional pipeline that first extracts patch features and then aggregates them for whole-image classification.</a:t>
                      </a:r>
                    </a:p>
                  </a:txBody>
                  <a:tcPr marL="57150" marR="57150" marT="28575" marB="28575" anchor="ctr">
                    <a:lnL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19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Zhang et al.[3]</a:t>
                      </a:r>
                      <a:endParaRPr sz="1400" u="none" strike="noStrike" cap="none" dirty="0"/>
                    </a:p>
                  </a:txBody>
                  <a:tcPr marL="57150" marR="57150" marT="28575" marB="28575" anchor="ctr">
                    <a:lnL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SPCZP-CNN</a:t>
                      </a:r>
                      <a:endParaRPr sz="1400" u="none" strike="noStrike" cap="none" dirty="0"/>
                    </a:p>
                  </a:txBody>
                  <a:tcPr marL="57150" marR="57150" marT="28575" marB="28575" anchor="ctr">
                    <a:lnL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0.96</a:t>
                      </a:r>
                      <a:endParaRPr sz="1400" u="none" strike="noStrike" cap="none" dirty="0"/>
                    </a:p>
                  </a:txBody>
                  <a:tcPr marL="57150" marR="57150" marT="28575" marB="28575" anchor="ctr">
                    <a:lnL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dirty="0">
                          <a:solidFill>
                            <a:srgbClr val="0070C0"/>
                          </a:solidFill>
                        </a:rPr>
                        <a:t>SPCZP-CNN: a sparse pyramid pooling CNN that captures multi-scale histological structures for four-class BACH classification</a:t>
                      </a:r>
                      <a:endParaRPr sz="1400" u="none" strike="noStrike" cap="none" dirty="0"/>
                    </a:p>
                  </a:txBody>
                  <a:tcPr marL="57150" marR="57150" marT="28575" marB="28575" anchor="ctr">
                    <a:lnL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19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Lekha S. Nair et al.[9]</a:t>
                      </a:r>
                      <a:endParaRPr sz="1400" u="none" strike="noStrike" cap="none" dirty="0"/>
                    </a:p>
                  </a:txBody>
                  <a:tcPr marL="57150" marR="57150" marT="28575" marB="28575" anchor="ctr">
                    <a:lnL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SE-Conformer</a:t>
                      </a:r>
                      <a:endParaRPr sz="1400" u="none" strike="noStrike" cap="none" dirty="0"/>
                    </a:p>
                  </a:txBody>
                  <a:tcPr marL="57150" marR="57150" marT="28575" marB="28575" anchor="ctr">
                    <a:lnL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0.90</a:t>
                      </a:r>
                      <a:endParaRPr sz="1400" u="none" strike="noStrike" cap="none" dirty="0"/>
                    </a:p>
                  </a:txBody>
                  <a:tcPr marL="57150" marR="57150" marT="28575" marB="28575" anchor="ctr">
                    <a:lnL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dirty="0">
                          <a:solidFill>
                            <a:srgbClr val="0070C0"/>
                          </a:solidFill>
                        </a:rPr>
                        <a:t>SE-Conformer: SE-attention–augmented Conformer hybrid evaluated on the BACH four-class problem</a:t>
                      </a:r>
                      <a:endParaRPr sz="900" u="none" strike="noStrike" cap="none" dirty="0"/>
                    </a:p>
                  </a:txBody>
                  <a:tcPr marL="57150" marR="57150" marT="28575" marB="28575" anchor="ctr">
                    <a:lnL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1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Fatima et al.[11] </a:t>
                      </a:r>
                      <a:endParaRPr sz="1400" u="none" strike="noStrike" cap="none" dirty="0"/>
                    </a:p>
                  </a:txBody>
                  <a:tcPr marL="57150" marR="57150" marT="28575" marB="28575" anchor="ctr">
                    <a:lnL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VGG16-TL</a:t>
                      </a:r>
                      <a:endParaRPr sz="1400" u="none" strike="noStrike" cap="none" dirty="0"/>
                    </a:p>
                  </a:txBody>
                  <a:tcPr marL="57150" marR="57150" marT="28575" marB="28575" anchor="ctr">
                    <a:lnL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0.95</a:t>
                      </a:r>
                      <a:endParaRPr sz="1400" u="none" strike="noStrike" cap="none" dirty="0"/>
                    </a:p>
                  </a:txBody>
                  <a:tcPr marL="57150" marR="57150" marT="28575" marB="28575" anchor="ctr">
                    <a:lnL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dirty="0">
                          <a:solidFill>
                            <a:srgbClr val="0070C0"/>
                          </a:solidFill>
                        </a:rPr>
                        <a:t>VGG16 transfer learning: pretrained-VGG16 feature extractor with comparative classifier analysis on BACH images</a:t>
                      </a:r>
                      <a:endParaRPr sz="900" u="none" strike="noStrike" cap="none" dirty="0"/>
                    </a:p>
                  </a:txBody>
                  <a:tcPr marL="57150" marR="57150" marT="28575" marB="28575" anchor="ctr">
                    <a:lnL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81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IN" sz="900" u="none" strike="noStrike" cap="none" dirty="0"/>
                        <a:t>Liang et al.[6]</a:t>
                      </a:r>
                      <a:endParaRPr sz="900" u="none" strike="noStrike" cap="none" dirty="0"/>
                    </a:p>
                  </a:txBody>
                  <a:tcPr marL="57150" marR="57150" marT="28575" marB="28575" anchor="ctr">
                    <a:lnL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IN" sz="900" u="none" strike="noStrike" cap="none" dirty="0"/>
                        <a:t>Brea-Net</a:t>
                      </a:r>
                      <a:endParaRPr sz="900" u="none" strike="noStrike" cap="none" dirty="0"/>
                    </a:p>
                  </a:txBody>
                  <a:tcPr marL="57150" marR="57150" marT="28575" marB="28575" anchor="ctr">
                    <a:lnL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/>
                        <a:t>0.95</a:t>
                      </a:r>
                      <a:endParaRPr sz="900" u="none" strike="noStrike" cap="none" dirty="0"/>
                    </a:p>
                  </a:txBody>
                  <a:tcPr marL="57150" marR="57150" marT="28575" marB="28575" anchor="ctr">
                    <a:lnL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dirty="0">
                          <a:solidFill>
                            <a:srgbClr val="0070C0"/>
                          </a:solidFill>
                        </a:rPr>
                        <a:t>Brea-Net: an interpretable dual-attention network designed for imbalanced breast-cancer classification.</a:t>
                      </a:r>
                      <a:endParaRPr sz="900" u="none" strike="noStrike" cap="none" dirty="0"/>
                    </a:p>
                  </a:txBody>
                  <a:tcPr marL="57150" marR="57150" marT="28575" marB="28575" anchor="ctr">
                    <a:lnL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842445"/>
                  </a:ext>
                </a:extLst>
              </a:tr>
              <a:tr h="22019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Proposed</a:t>
                      </a:r>
                      <a:endParaRPr sz="1400" u="none" strike="noStrike" cap="none"/>
                    </a:p>
                  </a:txBody>
                  <a:tcPr marL="57150" marR="57150" marT="28575" marB="28575" anchor="ctr">
                    <a:lnL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Swin-CNNs</a:t>
                      </a:r>
                      <a:endParaRPr lang="en-GB" sz="900" b="1" u="none" strike="noStrike" cap="none" dirty="0"/>
                    </a:p>
                  </a:txBody>
                  <a:tcPr marL="57150" marR="57150" marT="28575" marB="28575" anchor="ctr">
                    <a:lnL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0.99</a:t>
                      </a:r>
                      <a:endParaRPr sz="1400" u="none" strike="noStrike" cap="none" dirty="0"/>
                    </a:p>
                  </a:txBody>
                  <a:tcPr marL="57150" marR="57150" marT="28575" marB="28575" anchor="ctr">
                    <a:lnL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0.99</a:t>
                      </a:r>
                      <a:endParaRPr sz="1400" u="none" strike="noStrike" cap="none" dirty="0"/>
                    </a:p>
                  </a:txBody>
                  <a:tcPr marL="57150" marR="57150" marT="28575" marB="28575" anchor="ctr">
                    <a:lnL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1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3" name="Google Shape;243;p29"/>
          <p:cNvSpPr txBox="1"/>
          <p:nvPr/>
        </p:nvSpPr>
        <p:spPr>
          <a:xfrm>
            <a:off x="1158125" y="4797425"/>
            <a:ext cx="66120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MECO’2026 &amp; CPSIoT’2026, June 09-12, Budva, Montenegro </a:t>
            </a:r>
            <a:endParaRPr sz="1100"/>
          </a:p>
        </p:txBody>
      </p:sp>
      <p:sp>
        <p:nvSpPr>
          <p:cNvPr id="244" name="Google Shape;244;p29"/>
          <p:cNvSpPr txBox="1"/>
          <p:nvPr/>
        </p:nvSpPr>
        <p:spPr>
          <a:xfrm>
            <a:off x="1056114" y="818864"/>
            <a:ext cx="21831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1518"/>
              </a:buClr>
              <a:buSzPts val="1400"/>
              <a:buFont typeface="Georgia"/>
              <a:buNone/>
            </a:pPr>
            <a:r>
              <a:rPr lang="en-GB" b="1" dirty="0">
                <a:solidFill>
                  <a:srgbClr val="101518"/>
                </a:solidFill>
                <a:latin typeface="Georgia"/>
                <a:ea typeface="Georgia"/>
                <a:cs typeface="Georgia"/>
                <a:sym typeface="Georgia"/>
              </a:rPr>
              <a:t>BACH</a:t>
            </a:r>
            <a:r>
              <a:rPr lang="en-GB" sz="1400" b="1" dirty="0">
                <a:solidFill>
                  <a:srgbClr val="101518"/>
                </a:solidFill>
                <a:latin typeface="Georgia"/>
                <a:ea typeface="Georgia"/>
                <a:cs typeface="Georgia"/>
                <a:sym typeface="Georgia"/>
              </a:rPr>
              <a:t> Dataset</a:t>
            </a:r>
            <a:endParaRPr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0"/>
          <p:cNvSpPr txBox="1">
            <a:spLocks noGrp="1"/>
          </p:cNvSpPr>
          <p:nvPr>
            <p:ph type="title"/>
          </p:nvPr>
        </p:nvSpPr>
        <p:spPr>
          <a:xfrm>
            <a:off x="301752" y="171450"/>
            <a:ext cx="85344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000"/>
              <a:buFont typeface="Georgia"/>
              <a:buNone/>
            </a:pPr>
            <a:r>
              <a:rPr lang="en-GB" sz="3000" b="1"/>
              <a:t>Architecture Overview</a:t>
            </a:r>
            <a:endParaRPr/>
          </a:p>
        </p:txBody>
      </p:sp>
      <p:sp>
        <p:nvSpPr>
          <p:cNvPr id="250" name="Google Shape;250;p30"/>
          <p:cNvSpPr txBox="1">
            <a:spLocks noGrp="1"/>
          </p:cNvSpPr>
          <p:nvPr>
            <p:ph type="ftr" idx="11"/>
          </p:nvPr>
        </p:nvSpPr>
        <p:spPr>
          <a:xfrm>
            <a:off x="3143249" y="4800600"/>
            <a:ext cx="3888171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MECO’2026 &amp; CPSIoT’2026, June 09-12, </a:t>
            </a:r>
            <a:r>
              <a:rPr lang="en-GB" dirty="0" err="1"/>
              <a:t>Budva</a:t>
            </a:r>
            <a:r>
              <a:rPr lang="en-GB" dirty="0"/>
              <a:t>, Montenegro 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960EE5-43AE-F611-BE24-08891D7A2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9097" y="740550"/>
            <a:ext cx="3377820" cy="41192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"/>
          <p:cNvSpPr txBox="1">
            <a:spLocks noGrp="1"/>
          </p:cNvSpPr>
          <p:nvPr>
            <p:ph type="title"/>
          </p:nvPr>
        </p:nvSpPr>
        <p:spPr>
          <a:xfrm>
            <a:off x="1369314" y="171450"/>
            <a:ext cx="66318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000"/>
              <a:buFont typeface="Georgia"/>
              <a:buNone/>
            </a:pPr>
            <a:r>
              <a:rPr lang="en-GB" sz="3000" b="1" dirty="0"/>
              <a:t>Method/Approach</a:t>
            </a:r>
            <a:endParaRPr dirty="0"/>
          </a:p>
        </p:txBody>
      </p:sp>
      <p:sp>
        <p:nvSpPr>
          <p:cNvPr id="259" name="Google Shape;259;p31"/>
          <p:cNvSpPr txBox="1">
            <a:spLocks noGrp="1"/>
          </p:cNvSpPr>
          <p:nvPr>
            <p:ph type="ftr" idx="11"/>
          </p:nvPr>
        </p:nvSpPr>
        <p:spPr>
          <a:xfrm>
            <a:off x="1257300" y="4808136"/>
            <a:ext cx="6629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MECO’2025 &amp; CPSIoT’2026, June 09-12, Budva, Montenegro </a:t>
            </a:r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F5CBBF-7A14-2981-D878-E96C5999B9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0654" y="1088241"/>
            <a:ext cx="8295994" cy="330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 Dual-Branch Input Flow: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Simultaneously processes input tensors through a global Swin Transformer path and a local ensembled CNN path.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Swin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 Transformer (Global Branch):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Utilizes shifted-window self-attention across four hierarchical stages to extract macro-tissue semantic contexts ([B, 7, 7, 768]).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Ensembled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 CNN (Local Branch):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Combines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SqueezeNet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 1.1 and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ShuffleNet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 v2 x1.0 with bilinear feature alignment to capture fine-grained cellular textures ([B, 512, 13, 13]).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FiLM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 Fusion Module: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Extracts global semantic context vectors via global pooling to dynamically generate scaling (gamma) and shifting (beta) factors that adaptively modulate local CNN spatial feature maps.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 Final Classification: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Unifies both streams via global pooling and concatenation into a joint vector ([B, 1280]) for logit prediction and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Softmax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 normalization.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 Text"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2"/>
          <p:cNvSpPr txBox="1">
            <a:spLocks noGrp="1"/>
          </p:cNvSpPr>
          <p:nvPr>
            <p:ph type="title"/>
          </p:nvPr>
        </p:nvSpPr>
        <p:spPr>
          <a:xfrm>
            <a:off x="301752" y="171450"/>
            <a:ext cx="85344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000"/>
              <a:buFont typeface="Georgia"/>
              <a:buNone/>
            </a:pPr>
            <a:r>
              <a:rPr lang="en-GB" sz="3000" b="1"/>
              <a:t>Experiments/Testings </a:t>
            </a:r>
            <a:endParaRPr/>
          </a:p>
        </p:txBody>
      </p:sp>
      <p:sp>
        <p:nvSpPr>
          <p:cNvPr id="266" name="Google Shape;266;p32"/>
          <p:cNvSpPr txBox="1">
            <a:spLocks noGrp="1"/>
          </p:cNvSpPr>
          <p:nvPr>
            <p:ph type="ftr" idx="11"/>
          </p:nvPr>
        </p:nvSpPr>
        <p:spPr>
          <a:xfrm>
            <a:off x="1257300" y="4808136"/>
            <a:ext cx="6629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MECO’2025 &amp; CPSIoT’2026, June 09-12, Budva, Montenegro </a:t>
            </a:r>
            <a:endParaRPr/>
          </a:p>
        </p:txBody>
      </p:sp>
      <p:sp>
        <p:nvSpPr>
          <p:cNvPr id="268" name="Google Shape;268;p32"/>
          <p:cNvSpPr/>
          <p:nvPr/>
        </p:nvSpPr>
        <p:spPr>
          <a:xfrm>
            <a:off x="2655095" y="2352288"/>
            <a:ext cx="13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7F813D8-DE78-84A7-5535-78FC19F6E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079474"/>
              </p:ext>
            </p:extLst>
          </p:nvPr>
        </p:nvGraphicFramePr>
        <p:xfrm>
          <a:off x="566864" y="1397821"/>
          <a:ext cx="8004175" cy="1376521"/>
        </p:xfrm>
        <a:graphic>
          <a:graphicData uri="http://schemas.openxmlformats.org/drawingml/2006/table">
            <a:tbl>
              <a:tblPr/>
              <a:tblGrid>
                <a:gridCol w="1600835">
                  <a:extLst>
                    <a:ext uri="{9D8B030D-6E8A-4147-A177-3AD203B41FA5}">
                      <a16:colId xmlns:a16="http://schemas.microsoft.com/office/drawing/2014/main" val="205313194"/>
                    </a:ext>
                  </a:extLst>
                </a:gridCol>
                <a:gridCol w="1600835">
                  <a:extLst>
                    <a:ext uri="{9D8B030D-6E8A-4147-A177-3AD203B41FA5}">
                      <a16:colId xmlns:a16="http://schemas.microsoft.com/office/drawing/2014/main" val="876724794"/>
                    </a:ext>
                  </a:extLst>
                </a:gridCol>
                <a:gridCol w="1600835">
                  <a:extLst>
                    <a:ext uri="{9D8B030D-6E8A-4147-A177-3AD203B41FA5}">
                      <a16:colId xmlns:a16="http://schemas.microsoft.com/office/drawing/2014/main" val="809142632"/>
                    </a:ext>
                  </a:extLst>
                </a:gridCol>
                <a:gridCol w="1600835">
                  <a:extLst>
                    <a:ext uri="{9D8B030D-6E8A-4147-A177-3AD203B41FA5}">
                      <a16:colId xmlns:a16="http://schemas.microsoft.com/office/drawing/2014/main" val="2141166975"/>
                    </a:ext>
                  </a:extLst>
                </a:gridCol>
                <a:gridCol w="1600835">
                  <a:extLst>
                    <a:ext uri="{9D8B030D-6E8A-4147-A177-3AD203B41FA5}">
                      <a16:colId xmlns:a16="http://schemas.microsoft.com/office/drawing/2014/main" val="1262211550"/>
                    </a:ext>
                  </a:extLst>
                </a:gridCol>
              </a:tblGrid>
              <a:tr h="290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effectLst/>
                          <a:latin typeface="Google Sans Text"/>
                        </a:rPr>
                        <a:t>Dataset</a:t>
                      </a:r>
                      <a:endParaRPr lang="en-IN" sz="1100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effectLst/>
                          <a:latin typeface="Google Sans Text"/>
                        </a:rPr>
                        <a:t>Total</a:t>
                      </a:r>
                      <a:endParaRPr lang="en-IN" sz="1100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effectLst/>
                          <a:latin typeface="Google Sans Text"/>
                        </a:rPr>
                        <a:t>Train</a:t>
                      </a:r>
                      <a:endParaRPr lang="en-IN" sz="1100" dirty="0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effectLst/>
                          <a:latin typeface="Google Sans Text"/>
                        </a:rPr>
                        <a:t>Validation </a:t>
                      </a:r>
                      <a:endParaRPr lang="en-IN" sz="1100" dirty="0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effectLst/>
                          <a:latin typeface="Google Sans Text"/>
                        </a:rPr>
                        <a:t>Test </a:t>
                      </a:r>
                      <a:endParaRPr lang="en-IN" sz="1100" dirty="0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859734"/>
                  </a:ext>
                </a:extLst>
              </a:tr>
              <a:tr h="627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effectLst/>
                          <a:latin typeface="Google Sans Text"/>
                        </a:rPr>
                        <a:t>BreakHis</a:t>
                      </a:r>
                      <a:endParaRPr lang="en-IN" sz="1100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i="1">
                          <a:effectLst/>
                          <a:latin typeface="Google Sans Text"/>
                        </a:rPr>
                        <a:t>Oversampled / Undersampled around average class size</a:t>
                      </a:r>
                      <a:endParaRPr lang="en-IN" sz="1100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effectLst/>
                          <a:latin typeface="Google Sans Text"/>
                        </a:rPr>
                        <a:t>70% 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Google Sans Text"/>
                        </a:rPr>
                        <a:t>15% 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Google Sans Text"/>
                        </a:rPr>
                        <a:t>15% 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751659"/>
                  </a:ext>
                </a:extLst>
              </a:tr>
              <a:tr h="458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effectLst/>
                          <a:latin typeface="Google Sans Text"/>
                        </a:rPr>
                        <a:t>ICIAR BACH 2018</a:t>
                      </a:r>
                      <a:endParaRPr lang="en-IN" sz="1100" dirty="0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Google Sans Text"/>
                        </a:rPr>
                        <a:t>Augmented to 8000 total (2000 per class) 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Google Sans Text"/>
                        </a:rPr>
                        <a:t>70% 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Google Sans Text"/>
                        </a:rPr>
                        <a:t>15% 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effectLst/>
                          <a:latin typeface="Google Sans Text"/>
                        </a:rPr>
                        <a:t>15% 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6075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2"/>
          <p:cNvSpPr txBox="1">
            <a:spLocks noGrp="1"/>
          </p:cNvSpPr>
          <p:nvPr>
            <p:ph type="title"/>
          </p:nvPr>
        </p:nvSpPr>
        <p:spPr>
          <a:xfrm>
            <a:off x="301752" y="171450"/>
            <a:ext cx="85344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000"/>
              <a:buFont typeface="Georgia"/>
              <a:buNone/>
            </a:pPr>
            <a:r>
              <a:rPr lang="en-GB" sz="3000" b="1"/>
              <a:t>Experiments/Testings </a:t>
            </a:r>
            <a:endParaRPr/>
          </a:p>
        </p:txBody>
      </p:sp>
      <p:sp>
        <p:nvSpPr>
          <p:cNvPr id="266" name="Google Shape;266;p32"/>
          <p:cNvSpPr txBox="1">
            <a:spLocks noGrp="1"/>
          </p:cNvSpPr>
          <p:nvPr>
            <p:ph type="ftr" idx="11"/>
          </p:nvPr>
        </p:nvSpPr>
        <p:spPr>
          <a:xfrm>
            <a:off x="1257300" y="4808136"/>
            <a:ext cx="6629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MECO’2025 &amp; CPSIoT’2026, June 09-12, Budva, Montenegro </a:t>
            </a:r>
            <a:endParaRPr/>
          </a:p>
        </p:txBody>
      </p:sp>
      <p:sp>
        <p:nvSpPr>
          <p:cNvPr id="268" name="Google Shape;268;p32"/>
          <p:cNvSpPr/>
          <p:nvPr/>
        </p:nvSpPr>
        <p:spPr>
          <a:xfrm>
            <a:off x="2655095" y="2352288"/>
            <a:ext cx="13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5773DD-8061-8995-9DC0-E372941FAE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1752" y="1198076"/>
            <a:ext cx="853439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Preprocessing &amp; Training Setup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Image Quality Enhancement &amp; Augmentation: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Applied Contrast Limited Adaptive Histogram Equalization (CLAHE) to improve local contrast. Addressed BACH data scarcity via extensive translation and shearing augmentations.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Optimizer &amp; Learning Rate Schedule: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Trained using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AdamW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with an initial learning rate of 5X10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-5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weight decay of 1X10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-3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and a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CosineAnnealingLR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scheduler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</a:t>
            </a:r>
            <a:r>
              <a:rPr kumimoji="0" lang="en-US" altLang="en-US" sz="1200" b="0" i="0" u="none" strike="noStrike" cap="none" normalizeH="0" baseline="-2500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max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=30, eta</a:t>
            </a:r>
            <a:r>
              <a:rPr kumimoji="0" lang="en-US" altLang="en-US" sz="12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=1X10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-6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Execution Settings: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Configured with a batch size of 32, a maximum duration of 30 epochs, and data shuffling enabled exclusively for the training stream.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Loss Function &amp; Model Selection: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Evaluated via standard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CrossEntropy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Loss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with mean reduction. Integrated early stopping with a patience of 7 epochs, saving the best checkpoint based on peak validation accuracy.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828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3"/>
          <p:cNvSpPr txBox="1">
            <a:spLocks noGrp="1"/>
          </p:cNvSpPr>
          <p:nvPr>
            <p:ph type="title"/>
          </p:nvPr>
        </p:nvSpPr>
        <p:spPr>
          <a:xfrm>
            <a:off x="301752" y="171450"/>
            <a:ext cx="85344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2600"/>
              <a:buFont typeface="Georgia"/>
              <a:buNone/>
            </a:pPr>
            <a:r>
              <a:rPr lang="en-GB" sz="2600" b="1" dirty="0"/>
              <a:t>Results </a:t>
            </a:r>
            <a:endParaRPr dirty="0"/>
          </a:p>
        </p:txBody>
      </p:sp>
      <p:sp>
        <p:nvSpPr>
          <p:cNvPr id="274" name="Google Shape;274;p33"/>
          <p:cNvSpPr txBox="1">
            <a:spLocks noGrp="1"/>
          </p:cNvSpPr>
          <p:nvPr>
            <p:ph type="body" idx="1"/>
          </p:nvPr>
        </p:nvSpPr>
        <p:spPr>
          <a:xfrm>
            <a:off x="301752" y="1145286"/>
            <a:ext cx="8503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SzPts val="1700"/>
              <a:buNone/>
            </a:pPr>
            <a:r>
              <a:rPr lang="en-US" dirty="0">
                <a:solidFill>
                  <a:srgbClr val="0070C0"/>
                </a:solidFill>
              </a:rPr>
              <a:t>Accuracy of Swin-Ensembled CNN fusion model for different classes for different datasets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275" name="Google Shape;275;p33"/>
          <p:cNvSpPr txBox="1"/>
          <p:nvPr/>
        </p:nvSpPr>
        <p:spPr>
          <a:xfrm>
            <a:off x="1257300" y="4800600"/>
            <a:ext cx="6629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6" name="Google Shape;276;p33"/>
          <p:cNvSpPr txBox="1">
            <a:spLocks noGrp="1"/>
          </p:cNvSpPr>
          <p:nvPr>
            <p:ph type="ftr" idx="11"/>
          </p:nvPr>
        </p:nvSpPr>
        <p:spPr>
          <a:xfrm>
            <a:off x="1371600" y="4808136"/>
            <a:ext cx="6515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MECO’2025 &amp; CPSIoT’2026, June 09-12, Budva, Montenegro 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AAD2F8-E69A-CF20-B811-1AA4628A4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250" y="2026638"/>
            <a:ext cx="3612193" cy="18518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A85475-81A2-049E-6D0B-ABF37D64D7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3009" y="2227488"/>
            <a:ext cx="3442977" cy="1450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250DF-0054-0FA8-5A35-BF8CE42F7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/>
              <a:t>Results 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45CF4-F6E0-C470-05BA-CF1BAA006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A3114F-365D-11AF-F1A9-6928A976F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17" y="1205819"/>
            <a:ext cx="6342257" cy="307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096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8AAE6-7CA7-EE6F-D92B-B93406DB1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b="1" dirty="0"/>
              <a:t>Results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F6EFA-39A4-5C0F-700A-4BC3770AF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193058-C01F-B175-6AFF-590FDCB43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83" y="1241466"/>
            <a:ext cx="6050804" cy="300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072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 txBox="1">
            <a:spLocks noGrp="1"/>
          </p:cNvSpPr>
          <p:nvPr>
            <p:ph type="title"/>
          </p:nvPr>
        </p:nvSpPr>
        <p:spPr>
          <a:xfrm>
            <a:off x="301752" y="171450"/>
            <a:ext cx="85344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000"/>
              <a:buFont typeface="Georgia"/>
              <a:buNone/>
            </a:pPr>
            <a:r>
              <a:rPr lang="en-GB" sz="3000" b="1"/>
              <a:t>Visualization</a:t>
            </a:r>
            <a:endParaRPr/>
          </a:p>
        </p:txBody>
      </p:sp>
      <p:sp>
        <p:nvSpPr>
          <p:cNvPr id="284" name="Google Shape;284;p34"/>
          <p:cNvSpPr txBox="1">
            <a:spLocks noGrp="1"/>
          </p:cNvSpPr>
          <p:nvPr>
            <p:ph type="ftr" idx="11"/>
          </p:nvPr>
        </p:nvSpPr>
        <p:spPr>
          <a:xfrm>
            <a:off x="2793094" y="4780026"/>
            <a:ext cx="4972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MECO'2023 &amp; CPSIoT’2025, June 09-12, Budva, Montenegro 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1B9770-FF42-D0E3-AAD4-1EFFD3B8D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821" y="1187669"/>
            <a:ext cx="5989863" cy="35923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5"/>
          <p:cNvSpPr txBox="1">
            <a:spLocks noGrp="1"/>
          </p:cNvSpPr>
          <p:nvPr>
            <p:ph type="title"/>
          </p:nvPr>
        </p:nvSpPr>
        <p:spPr>
          <a:xfrm>
            <a:off x="301752" y="171450"/>
            <a:ext cx="85344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2600"/>
              <a:buFont typeface="Georgia"/>
              <a:buNone/>
            </a:pPr>
            <a:r>
              <a:rPr lang="en-GB" sz="2600" b="1"/>
              <a:t>Conclusions </a:t>
            </a:r>
            <a:endParaRPr/>
          </a:p>
        </p:txBody>
      </p:sp>
      <p:sp>
        <p:nvSpPr>
          <p:cNvPr id="293" name="Google Shape;293;p35"/>
          <p:cNvSpPr txBox="1">
            <a:spLocks noGrp="1"/>
          </p:cNvSpPr>
          <p:nvPr>
            <p:ph type="body" idx="1"/>
          </p:nvPr>
        </p:nvSpPr>
        <p:spPr>
          <a:xfrm>
            <a:off x="301752" y="1145286"/>
            <a:ext cx="8503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C0392B"/>
                </a:solidFill>
              </a:rPr>
              <a:t>Key Contributions</a:t>
            </a:r>
            <a:endParaRPr dirty="0"/>
          </a:p>
          <a:p>
            <a:pPr lvl="0">
              <a:spcBef>
                <a:spcPts val="200"/>
              </a:spcBef>
              <a:buClr>
                <a:srgbClr val="002060"/>
              </a:buClr>
              <a:buAutoNum type="arabicPeriod"/>
            </a:pPr>
            <a:r>
              <a:rPr lang="en-IN" sz="1100" b="1" dirty="0">
                <a:solidFill>
                  <a:srgbClr val="0070C0"/>
                </a:solidFill>
              </a:rPr>
              <a:t>Dual-Branch Semantics:</a:t>
            </a:r>
            <a:r>
              <a:rPr lang="en-IN" sz="1100" dirty="0">
                <a:solidFill>
                  <a:srgbClr val="0070C0"/>
                </a:solidFill>
              </a:rPr>
              <a:t> Integrates a hierarchical Swin Transformer with a lightweight CNN ensemble to model long-range global context and extract fine-grained local cellular textures simultaneously.</a:t>
            </a:r>
          </a:p>
          <a:p>
            <a:pPr lvl="0">
              <a:spcBef>
                <a:spcPts val="200"/>
              </a:spcBef>
              <a:buClr>
                <a:srgbClr val="002060"/>
              </a:buClr>
              <a:buAutoNum type="arabicPeriod"/>
            </a:pPr>
            <a:r>
              <a:rPr lang="en-IN" sz="1100" b="1" dirty="0">
                <a:solidFill>
                  <a:srgbClr val="0070C0"/>
                </a:solidFill>
              </a:rPr>
              <a:t>Linear </a:t>
            </a:r>
            <a:r>
              <a:rPr lang="en-IN" sz="1100" b="1" dirty="0" err="1">
                <a:solidFill>
                  <a:srgbClr val="0070C0"/>
                </a:solidFill>
              </a:rPr>
              <a:t>FiLM</a:t>
            </a:r>
            <a:r>
              <a:rPr lang="en-IN" sz="1100" b="1" dirty="0">
                <a:solidFill>
                  <a:srgbClr val="0070C0"/>
                </a:solidFill>
              </a:rPr>
              <a:t> Modulation:</a:t>
            </a:r>
            <a:r>
              <a:rPr lang="en-IN" sz="1100" dirty="0">
                <a:solidFill>
                  <a:srgbClr val="0070C0"/>
                </a:solidFill>
              </a:rPr>
              <a:t> Implements a Feature-wise Linear Modulation module to dynamically scale and shift local feature maps using transformer-derived global semantic cues.</a:t>
            </a:r>
          </a:p>
          <a:p>
            <a:pPr lvl="0">
              <a:spcBef>
                <a:spcPts val="200"/>
              </a:spcBef>
              <a:buClr>
                <a:srgbClr val="002060"/>
              </a:buClr>
              <a:buAutoNum type="arabicPeriod"/>
            </a:pPr>
            <a:r>
              <a:rPr lang="en-IN" sz="1100" b="1" dirty="0">
                <a:solidFill>
                  <a:srgbClr val="0070C0"/>
                </a:solidFill>
              </a:rPr>
              <a:t>State-of-the-Art Performance:</a:t>
            </a:r>
            <a:r>
              <a:rPr lang="en-IN" sz="1100" dirty="0">
                <a:solidFill>
                  <a:srgbClr val="0070C0"/>
                </a:solidFill>
              </a:rPr>
              <a:t> Outperforms contemporary architectures, achieving peak test accuracies of </a:t>
            </a:r>
            <a:r>
              <a:rPr lang="en-IN" sz="1100" b="1" dirty="0">
                <a:solidFill>
                  <a:srgbClr val="0070C0"/>
                </a:solidFill>
              </a:rPr>
              <a:t>97.05%</a:t>
            </a:r>
            <a:r>
              <a:rPr lang="en-IN" sz="1100" dirty="0">
                <a:solidFill>
                  <a:srgbClr val="0070C0"/>
                </a:solidFill>
              </a:rPr>
              <a:t> on </a:t>
            </a:r>
            <a:r>
              <a:rPr lang="en-IN" sz="1100" dirty="0" err="1">
                <a:solidFill>
                  <a:srgbClr val="0070C0"/>
                </a:solidFill>
              </a:rPr>
              <a:t>BreakHis</a:t>
            </a:r>
            <a:r>
              <a:rPr lang="en-IN" sz="1100" dirty="0">
                <a:solidFill>
                  <a:srgbClr val="0070C0"/>
                </a:solidFill>
              </a:rPr>
              <a:t> and </a:t>
            </a:r>
            <a:r>
              <a:rPr lang="en-IN" sz="1100" b="1" dirty="0">
                <a:solidFill>
                  <a:srgbClr val="0070C0"/>
                </a:solidFill>
              </a:rPr>
              <a:t>99%</a:t>
            </a:r>
            <a:r>
              <a:rPr lang="en-IN" sz="1100" dirty="0">
                <a:solidFill>
                  <a:srgbClr val="0070C0"/>
                </a:solidFill>
              </a:rPr>
              <a:t> on the BACH benchmark dataset.</a:t>
            </a:r>
          </a:p>
          <a:p>
            <a:pPr lvl="0">
              <a:spcBef>
                <a:spcPts val="200"/>
              </a:spcBef>
              <a:buClr>
                <a:srgbClr val="002060"/>
              </a:buClr>
              <a:buAutoNum type="arabicPeriod"/>
            </a:pPr>
            <a:endParaRPr sz="1100" dirty="0">
              <a:solidFill>
                <a:srgbClr val="0070C0"/>
              </a:solidFill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C0392B"/>
                </a:solidFill>
              </a:rPr>
              <a:t>Limitations &amp; Future Scope</a:t>
            </a:r>
            <a:endParaRPr dirty="0"/>
          </a:p>
          <a:p>
            <a:pPr lvl="0">
              <a:spcBef>
                <a:spcPts val="200"/>
              </a:spcBef>
              <a:buClr>
                <a:srgbClr val="002060"/>
              </a:buClr>
              <a:buAutoNum type="arabicPeriod"/>
            </a:pPr>
            <a:r>
              <a:rPr lang="en-IN" sz="1100" b="1" dirty="0">
                <a:solidFill>
                  <a:srgbClr val="0070C0"/>
                </a:solidFill>
              </a:rPr>
              <a:t>Ductal Carcinoma Deficiencies:</a:t>
            </a:r>
            <a:r>
              <a:rPr lang="en-IN" sz="1100" dirty="0">
                <a:solidFill>
                  <a:srgbClr val="0070C0"/>
                </a:solidFill>
              </a:rPr>
              <a:t> The framework exhibits a slight performance degradation on </a:t>
            </a:r>
            <a:r>
              <a:rPr lang="en-IN" sz="1100" dirty="0" err="1">
                <a:solidFill>
                  <a:srgbClr val="0070C0"/>
                </a:solidFill>
              </a:rPr>
              <a:t>BreakHis</a:t>
            </a:r>
            <a:r>
              <a:rPr lang="en-IN" sz="1100" dirty="0">
                <a:solidFill>
                  <a:srgbClr val="0070C0"/>
                </a:solidFill>
              </a:rPr>
              <a:t> ductal carcinoma samples, misclassifying 16 out of 145 test images.</a:t>
            </a:r>
          </a:p>
          <a:p>
            <a:pPr lvl="0">
              <a:spcBef>
                <a:spcPts val="200"/>
              </a:spcBef>
              <a:buClr>
                <a:srgbClr val="002060"/>
              </a:buClr>
              <a:buAutoNum type="arabicPeriod"/>
            </a:pPr>
            <a:r>
              <a:rPr lang="en-IN" sz="1100" b="1" dirty="0">
                <a:solidFill>
                  <a:srgbClr val="0070C0"/>
                </a:solidFill>
              </a:rPr>
              <a:t>Alternative Fusion Mechanisms:</a:t>
            </a:r>
            <a:r>
              <a:rPr lang="en-IN" sz="1100" dirty="0">
                <a:solidFill>
                  <a:srgbClr val="0070C0"/>
                </a:solidFill>
              </a:rPr>
              <a:t> Future work requires exploration of customized attention blocks and more sophisticated feature-mixing modules to replace basic concatenation steps. </a:t>
            </a:r>
          </a:p>
          <a:p>
            <a:pPr lvl="0">
              <a:spcBef>
                <a:spcPts val="200"/>
              </a:spcBef>
              <a:buClr>
                <a:srgbClr val="002060"/>
              </a:buClr>
              <a:buAutoNum type="arabicPeriod"/>
            </a:pPr>
            <a:r>
              <a:rPr lang="en-IN" sz="1100" b="1" dirty="0">
                <a:solidFill>
                  <a:srgbClr val="0070C0"/>
                </a:solidFill>
              </a:rPr>
              <a:t>Advanced Preprocessing Pipeline:</a:t>
            </a:r>
            <a:r>
              <a:rPr lang="en-IN" sz="1100" dirty="0">
                <a:solidFill>
                  <a:srgbClr val="0070C0"/>
                </a:solidFill>
              </a:rPr>
              <a:t> Investigation into alternative, adaptive image enhancement techniques is needed to further improve input quality, feature extraction boundaries, and structural alignment</a:t>
            </a:r>
          </a:p>
        </p:txBody>
      </p:sp>
      <p:sp>
        <p:nvSpPr>
          <p:cNvPr id="294" name="Google Shape;294;p35"/>
          <p:cNvSpPr txBox="1"/>
          <p:nvPr/>
        </p:nvSpPr>
        <p:spPr>
          <a:xfrm>
            <a:off x="1257300" y="4800600"/>
            <a:ext cx="6629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5" name="Google Shape;295;p35"/>
          <p:cNvSpPr txBox="1">
            <a:spLocks noGrp="1"/>
          </p:cNvSpPr>
          <p:nvPr>
            <p:ph type="ftr" idx="11"/>
          </p:nvPr>
        </p:nvSpPr>
        <p:spPr>
          <a:xfrm>
            <a:off x="1371600" y="4808136"/>
            <a:ext cx="6515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MECO’2025 &amp; CPSIoT’2026, June 09-12, Budva, Montenegro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6"/>
          <p:cNvSpPr txBox="1">
            <a:spLocks noGrp="1"/>
          </p:cNvSpPr>
          <p:nvPr>
            <p:ph type="title"/>
          </p:nvPr>
        </p:nvSpPr>
        <p:spPr>
          <a:xfrm>
            <a:off x="301752" y="171450"/>
            <a:ext cx="85344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000"/>
              <a:buFont typeface="Georgia"/>
              <a:buNone/>
            </a:pPr>
            <a:r>
              <a:rPr lang="en-GB" sz="3000" b="1" dirty="0"/>
              <a:t>Key References</a:t>
            </a:r>
            <a:endParaRPr dirty="0"/>
          </a:p>
        </p:txBody>
      </p:sp>
      <p:sp>
        <p:nvSpPr>
          <p:cNvPr id="301" name="Google Shape;301;p36"/>
          <p:cNvSpPr txBox="1">
            <a:spLocks noGrp="1"/>
          </p:cNvSpPr>
          <p:nvPr>
            <p:ph type="ftr" idx="11"/>
          </p:nvPr>
        </p:nvSpPr>
        <p:spPr>
          <a:xfrm>
            <a:off x="1371600" y="4808136"/>
            <a:ext cx="6629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MECO'2023 &amp; CPSIoT’2026, June 09-12, Budva, Montenegro </a:t>
            </a:r>
            <a:endParaRPr/>
          </a:p>
        </p:txBody>
      </p:sp>
      <p:sp>
        <p:nvSpPr>
          <p:cNvPr id="302" name="Google Shape;302;p36"/>
          <p:cNvSpPr txBox="1">
            <a:spLocks noGrp="1"/>
          </p:cNvSpPr>
          <p:nvPr>
            <p:ph type="body" idx="1"/>
          </p:nvPr>
        </p:nvSpPr>
        <p:spPr>
          <a:xfrm>
            <a:off x="1369314" y="1145286"/>
            <a:ext cx="6378000" cy="3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1450" indent="-171450">
              <a:spcBef>
                <a:spcPts val="200"/>
              </a:spcBef>
              <a:buNone/>
            </a:pPr>
            <a:r>
              <a:rPr lang="en-US" sz="900" dirty="0"/>
              <a:t>[1] F. N. </a:t>
            </a:r>
            <a:r>
              <a:rPr lang="en-US" sz="900" dirty="0" err="1"/>
              <a:t>Iandola</a:t>
            </a:r>
            <a:r>
              <a:rPr lang="en-US" sz="900" dirty="0"/>
              <a:t>, S. Han, M. W. </a:t>
            </a:r>
            <a:r>
              <a:rPr lang="en-US" sz="900" dirty="0" err="1"/>
              <a:t>Moskewicz</a:t>
            </a:r>
            <a:r>
              <a:rPr lang="en-US" sz="900" dirty="0"/>
              <a:t>, K. Ashraf, W. J. Dally, and K. Keutzer. "</a:t>
            </a:r>
            <a:r>
              <a:rPr lang="en-US" sz="900" dirty="0" err="1"/>
              <a:t>SqueezeNet</a:t>
            </a:r>
            <a:r>
              <a:rPr lang="en-US" sz="900" dirty="0"/>
              <a:t>: </a:t>
            </a:r>
            <a:r>
              <a:rPr lang="en-US" sz="900" dirty="0" err="1"/>
              <a:t>AlexNet</a:t>
            </a:r>
            <a:r>
              <a:rPr lang="en-US" sz="900" dirty="0"/>
              <a:t>-level accuracy with 50x fewer parameters and &lt;0.5 MB model size." arXiv:1602.07360, 2016.</a:t>
            </a:r>
          </a:p>
          <a:p>
            <a:pPr marL="171450" indent="-171450">
              <a:spcBef>
                <a:spcPts val="200"/>
              </a:spcBef>
              <a:buNone/>
            </a:pPr>
            <a:r>
              <a:rPr lang="en-US" sz="900" dirty="0"/>
              <a:t>[2] X. Zhang, X. Zhou, M. Lin, and J. Sun. "</a:t>
            </a:r>
            <a:r>
              <a:rPr lang="en-US" sz="900" dirty="0" err="1"/>
              <a:t>ShuffleNet</a:t>
            </a:r>
            <a:r>
              <a:rPr lang="en-US" sz="900" dirty="0"/>
              <a:t>: An extremely efficient convolutional neural network for mobile devices." CVPR, 2018.</a:t>
            </a:r>
          </a:p>
          <a:p>
            <a:pPr marL="171450" indent="-171450">
              <a:spcBef>
                <a:spcPts val="200"/>
              </a:spcBef>
              <a:buNone/>
            </a:pPr>
            <a:r>
              <a:rPr lang="en-US" sz="900" dirty="0"/>
              <a:t>[3] N. Ma, X. Zhang, H.-T. Zheng, and J. Sun. "</a:t>
            </a:r>
            <a:r>
              <a:rPr lang="en-US" sz="900" dirty="0" err="1"/>
              <a:t>ShuffleNet</a:t>
            </a:r>
            <a:r>
              <a:rPr lang="en-US" sz="900" dirty="0"/>
              <a:t> V2: Practical guidelines for efficient CNN architecture design." ECCV, 2018.</a:t>
            </a:r>
          </a:p>
          <a:p>
            <a:pPr marL="171450" indent="-171450">
              <a:spcBef>
                <a:spcPts val="200"/>
              </a:spcBef>
              <a:buNone/>
            </a:pPr>
            <a:r>
              <a:rPr lang="en-US" sz="900" dirty="0"/>
              <a:t>[4] Z. Liu, Y. Lin, Y. Cao, H. Hu, Y. Wei, Z. Zhang, S. Lin, and B. Guo. "Swin Transformer: Hierarchical vision transformer using shifted windows." ICCV, 2021.</a:t>
            </a:r>
          </a:p>
          <a:p>
            <a:pPr marL="171450" indent="-171450">
              <a:spcBef>
                <a:spcPts val="200"/>
              </a:spcBef>
              <a:buNone/>
            </a:pPr>
            <a:r>
              <a:rPr lang="en-US" sz="900" dirty="0"/>
              <a:t>[5] K. </a:t>
            </a:r>
            <a:r>
              <a:rPr lang="en-US" sz="900" dirty="0" err="1"/>
              <a:t>Zuiderveld</a:t>
            </a:r>
            <a:r>
              <a:rPr lang="en-US" sz="900" dirty="0"/>
              <a:t>. "Contrast limited adaptive histogram equalization." Graphics Gems IV, pp. 474–485, Academic Press, 1994.</a:t>
            </a:r>
          </a:p>
          <a:p>
            <a:pPr marL="171450" indent="-171450">
              <a:spcBef>
                <a:spcPts val="200"/>
              </a:spcBef>
              <a:buNone/>
            </a:pPr>
            <a:r>
              <a:rPr lang="en-US" sz="900" dirty="0"/>
              <a:t>[6] Y. Liang and Z. Meng. "Brea-Net: An interpretable dual-attention network for imbalanced breast cancer classification." IEEE Access, 2023.</a:t>
            </a:r>
          </a:p>
          <a:p>
            <a:pPr marL="171450" indent="-171450">
              <a:spcBef>
                <a:spcPts val="200"/>
              </a:spcBef>
              <a:buNone/>
            </a:pPr>
            <a:r>
              <a:rPr lang="en-US" sz="900" dirty="0"/>
              <a:t>[7] Y. Cai, X. Chen, and C. Guo. "AMRM: Attention-based mask reconstruction module for multi-classification of breast cancer histopathological images." Guangdong Univ. of Technology, 2024.</a:t>
            </a:r>
          </a:p>
          <a:p>
            <a:pPr marL="171450" indent="-171450">
              <a:spcBef>
                <a:spcPts val="200"/>
              </a:spcBef>
              <a:buNone/>
            </a:pPr>
            <a:r>
              <a:rPr lang="en-US" sz="900" dirty="0"/>
              <a:t>[8] A. Desai and R. Mahto. "Multi-class classification of breast cancer subtypes using </a:t>
            </a:r>
            <a:r>
              <a:rPr lang="en-US" sz="900" dirty="0" err="1"/>
              <a:t>ResNet</a:t>
            </a:r>
            <a:r>
              <a:rPr lang="en-US" sz="900" dirty="0"/>
              <a:t> architectures on histopathological images." California State Univ., Fullerton, 2024.</a:t>
            </a:r>
          </a:p>
          <a:p>
            <a:pPr marL="171450" indent="-171450">
              <a:spcBef>
                <a:spcPts val="200"/>
              </a:spcBef>
              <a:buNone/>
            </a:pPr>
            <a:r>
              <a:rPr lang="en-US" sz="900" dirty="0"/>
              <a:t>[9] L. S. Nair, K. R. Amarnath, and J. J. Nair. "Advancing breast cancer detection: SE-Conformer framework for malignancy detection in histopathology images." 2025.</a:t>
            </a:r>
          </a:p>
          <a:p>
            <a:pPr marL="171450" indent="-171450">
              <a:spcBef>
                <a:spcPts val="200"/>
              </a:spcBef>
              <a:buNone/>
            </a:pPr>
            <a:r>
              <a:rPr lang="en-US" sz="900" dirty="0"/>
              <a:t>[10] G. Yıldız and Ö. Yakut. "Multi-class cancer diagnosis on histopathological images with deep ensemble learning model." Computers in Biology and Medicine, vol. 180, p. 111381, 2025.</a:t>
            </a:r>
          </a:p>
          <a:p>
            <a:pPr marL="171450" indent="-171450">
              <a:spcBef>
                <a:spcPts val="200"/>
              </a:spcBef>
              <a:buNone/>
            </a:pPr>
            <a:r>
              <a:rPr lang="en-US" sz="900" dirty="0"/>
              <a:t>[11] N. Fatima, L. Liu, S. Hong, and H. Ahmed. "Prediction of breast cancer, comparative review of machine learning techniques, and their analysis." IEEE, 2020.</a:t>
            </a:r>
          </a:p>
          <a:p>
            <a:pPr marL="171450" indent="-171450">
              <a:spcBef>
                <a:spcPts val="200"/>
              </a:spcBef>
              <a:buNone/>
            </a:pPr>
            <a:r>
              <a:rPr lang="en-US" sz="900" dirty="0"/>
              <a:t>[12] A. Kumar, C. Singh, and M. K. Sachan. "A moment-based pooling approach in CNNs for breast cancer histopathology image classification." Neural Computing and Applications, vol. 37, pp. 1127–1156, 2025.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4C6D6-5645-95C0-E808-A89714EC9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b="1" dirty="0"/>
              <a:t>Key References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7F0E2-1F46-9C14-72C3-B463A79A4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171450" indent="-171450">
              <a:spcBef>
                <a:spcPts val="200"/>
              </a:spcBef>
              <a:buNone/>
            </a:pPr>
            <a:r>
              <a:rPr lang="en-US" dirty="0"/>
              <a:t>[13] T. Li, B. Li, and C. Zheng. "Dual-branch attention fusion network for pneumonia detection." Biomedical Physics &amp; Engineering Express, vol. 11, no. 5, p. 055025, 2025.</a:t>
            </a:r>
          </a:p>
          <a:p>
            <a:pPr marL="171450" indent="-171450">
              <a:spcBef>
                <a:spcPts val="200"/>
              </a:spcBef>
              <a:buNone/>
            </a:pPr>
            <a:r>
              <a:rPr lang="en-US" dirty="0"/>
              <a:t>[14] E. Perez, F. Strub, H. de Vries, V. Dumoulin, and A. Courville. "</a:t>
            </a:r>
            <a:r>
              <a:rPr lang="en-US" dirty="0" err="1"/>
              <a:t>FiLM</a:t>
            </a:r>
            <a:r>
              <a:rPr lang="en-US" dirty="0"/>
              <a:t>: Visual reasoning with a general conditioning layer." AAAI, 2018.</a:t>
            </a:r>
          </a:p>
          <a:p>
            <a:pPr marL="171450" indent="-171450">
              <a:spcBef>
                <a:spcPts val="200"/>
              </a:spcBef>
              <a:buNone/>
            </a:pPr>
            <a:r>
              <a:rPr lang="en-US" dirty="0"/>
              <a:t>[15] Y. Wen, Y. Zeng, S. Liu, L. Xiong, H. Li, Y. Wang, W. Jia, C. Wang, P. Ma, and Z. Liang. "DSF-Net: A dual-stream fusion network integrating structural and detailed features for fundus-based diabetic retinopathy classification." 2023.</a:t>
            </a:r>
          </a:p>
          <a:p>
            <a:pPr marL="171450" indent="-171450">
              <a:spcBef>
                <a:spcPts val="200"/>
              </a:spcBef>
              <a:buNone/>
            </a:pPr>
            <a:r>
              <a:rPr lang="en-US" dirty="0"/>
              <a:t>[16] S. Hussain, M. A. </a:t>
            </a:r>
            <a:r>
              <a:rPr lang="en-US" dirty="0" err="1"/>
              <a:t>Teevno</a:t>
            </a:r>
            <a:r>
              <a:rPr lang="en-US" dirty="0"/>
              <a:t>, U. Naseem, D. B. Avendaño Avalos, S. Cardona-Huerta, and J. G. Tamez-Peña. "Multiview multimodal feature fusion for breast cancer classification using deep learning." IEEE, 2024.</a:t>
            </a:r>
          </a:p>
          <a:p>
            <a:pPr marL="171450" indent="-171450">
              <a:spcBef>
                <a:spcPts val="200"/>
              </a:spcBef>
              <a:buNone/>
            </a:pPr>
            <a:r>
              <a:rPr lang="en-US" dirty="0"/>
              <a:t>[17] J. Huang, S. N. Saw, T. He, R. Yang, Y. Qin, and Y. Chen. "DCNNLFS: A dilated CNN with late fusion strategy for gastric histopathology classification." IEEE, 2024.</a:t>
            </a:r>
          </a:p>
          <a:p>
            <a:pPr marL="171450" indent="-171450">
              <a:spcBef>
                <a:spcPts val="200"/>
              </a:spcBef>
              <a:buNone/>
            </a:pPr>
            <a:r>
              <a:rPr lang="en-US" dirty="0"/>
              <a:t>[18] R. Zhang, Y. Zheng, W. C. T. Mak, and R. Yu. "Automatic detection and classification of colorectal polyps by transferring low-level CNN features from non-medical domain." IEEE J. Biomedical and Health Informatics.</a:t>
            </a:r>
          </a:p>
          <a:p>
            <a:pPr marL="171450" indent="-171450">
              <a:spcBef>
                <a:spcPts val="200"/>
              </a:spcBef>
              <a:buNone/>
            </a:pPr>
            <a:r>
              <a:rPr lang="en-US" dirty="0"/>
              <a:t>[19] M. Mamun, M. I. Mahmud, M. </a:t>
            </a:r>
            <a:r>
              <a:rPr lang="en-US" dirty="0" err="1"/>
              <a:t>Meherin</a:t>
            </a:r>
            <a:r>
              <a:rPr lang="en-US" dirty="0"/>
              <a:t>, and A. </a:t>
            </a:r>
            <a:r>
              <a:rPr lang="en-US" dirty="0" err="1"/>
              <a:t>Abdelgawad</a:t>
            </a:r>
            <a:r>
              <a:rPr lang="en-US" dirty="0"/>
              <a:t>. "</a:t>
            </a:r>
            <a:r>
              <a:rPr lang="en-US" dirty="0" err="1"/>
              <a:t>LCDctCNN</a:t>
            </a:r>
            <a:r>
              <a:rPr lang="en-US" dirty="0"/>
              <a:t>: Lung cancer diagnosis of CT scan images using CNN based model." SPIN, 2023.</a:t>
            </a:r>
          </a:p>
          <a:p>
            <a:pPr marL="171450" indent="-171450">
              <a:spcBef>
                <a:spcPts val="200"/>
              </a:spcBef>
              <a:buNone/>
            </a:pPr>
            <a:r>
              <a:rPr lang="en-US" dirty="0"/>
              <a:t>[20] Y. Li, M. E. H. Daho, P.-H. Conze, R. Zeghlache, et al. "A review of deep learning-based information fusion techniques for multimodal medical image classification." </a:t>
            </a:r>
            <a:r>
              <a:rPr lang="en-US" dirty="0" err="1"/>
              <a:t>arXiv</a:t>
            </a:r>
            <a:r>
              <a:rPr lang="en-US" dirty="0"/>
              <a:t>, 2023.</a:t>
            </a:r>
          </a:p>
          <a:p>
            <a:pPr marL="171450" indent="-171450">
              <a:spcBef>
                <a:spcPts val="200"/>
              </a:spcBef>
              <a:buNone/>
            </a:pPr>
            <a:r>
              <a:rPr lang="en-US" dirty="0"/>
              <a:t>[21] S. Chi, Z. Wang, L. Jang, and M. Gong. "Max-min pooling and squeeze excitation lightweight bidirectional Mamba for image classification." 2024.</a:t>
            </a:r>
          </a:p>
          <a:p>
            <a:pPr marL="171450" indent="-171450">
              <a:spcBef>
                <a:spcPts val="200"/>
              </a:spcBef>
              <a:buNone/>
            </a:pPr>
            <a:r>
              <a:rPr lang="en-US" dirty="0"/>
              <a:t>[22] K. Nazeri, A. </a:t>
            </a:r>
            <a:r>
              <a:rPr lang="en-US" dirty="0" err="1"/>
              <a:t>Aminpour</a:t>
            </a:r>
            <a:r>
              <a:rPr lang="en-US" dirty="0"/>
              <a:t>, and M. Ebrahimi. "Two-stage convolutional neural network for breast cancer histology image classification." ICIAR, Springer, 2018, pp. 717–726.</a:t>
            </a:r>
          </a:p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9205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8"/>
          <p:cNvSpPr txBox="1">
            <a:spLocks noGrp="1"/>
          </p:cNvSpPr>
          <p:nvPr>
            <p:ph type="title"/>
          </p:nvPr>
        </p:nvSpPr>
        <p:spPr>
          <a:xfrm>
            <a:off x="722313" y="400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lang="en-GB"/>
              <a:t>THANK  YOU</a:t>
            </a:r>
            <a:endParaRPr/>
          </a:p>
        </p:txBody>
      </p:sp>
      <p:sp>
        <p:nvSpPr>
          <p:cNvPr id="315" name="Google Shape;315;p38"/>
          <p:cNvSpPr txBox="1"/>
          <p:nvPr/>
        </p:nvSpPr>
        <p:spPr>
          <a:xfrm>
            <a:off x="2228850" y="2400300"/>
            <a:ext cx="4515000" cy="1454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Q&amp;A</a:t>
            </a:r>
            <a:endParaRPr sz="11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1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dk1"/>
                </a:solidFill>
                <a:latin typeface="Georgia"/>
                <a:sym typeface="Georgia"/>
              </a:rPr>
              <a:t>Debatra Banerjee</a:t>
            </a:r>
            <a:endParaRPr sz="11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debatrabanerjee1001</a:t>
            </a:r>
            <a:r>
              <a:rPr lang="en-GB" sz="1500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@gmail.com</a:t>
            </a:r>
            <a:endParaRPr sz="1100" dirty="0"/>
          </a:p>
        </p:txBody>
      </p:sp>
      <p:sp>
        <p:nvSpPr>
          <p:cNvPr id="316" name="Google Shape;316;p38"/>
          <p:cNvSpPr txBox="1">
            <a:spLocks noGrp="1"/>
          </p:cNvSpPr>
          <p:nvPr>
            <p:ph type="ftr" idx="11"/>
          </p:nvPr>
        </p:nvSpPr>
        <p:spPr>
          <a:xfrm>
            <a:off x="1371600" y="4808136"/>
            <a:ext cx="6515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MECO’2025 &amp; CPSIoT’2026, June 09-12, Budva, Montenegro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ivic">
  <a:themeElements>
    <a:clrScheme name="Civic">
      <a:dk1>
        <a:srgbClr val="000000"/>
      </a:dk1>
      <a:lt1>
        <a:srgbClr val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2199</TotalTime>
  <Words>2137</Words>
  <Application>Microsoft Office PowerPoint</Application>
  <PresentationFormat>On-screen Show (16:9)</PresentationFormat>
  <Paragraphs>196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Georgia</vt:lpstr>
      <vt:lpstr>Google Sans</vt:lpstr>
      <vt:lpstr>Google Sans Text</vt:lpstr>
      <vt:lpstr>Helvetica Neue</vt:lpstr>
      <vt:lpstr>Noto Sans Symbols</vt:lpstr>
      <vt:lpstr>Simple Light</vt:lpstr>
      <vt:lpstr>Civic</vt:lpstr>
      <vt:lpstr>A Feature Modulation Block-aided Dual-Branch of Swin Transformer and Ensemble of CNN Models for Breast Cancer Classification</vt:lpstr>
      <vt:lpstr>Outline</vt:lpstr>
      <vt:lpstr>Problem definition</vt:lpstr>
      <vt:lpstr>Problem solution</vt:lpstr>
      <vt:lpstr>State-of-the-art</vt:lpstr>
      <vt:lpstr>State-of-the-art</vt:lpstr>
      <vt:lpstr>Architecture Overview</vt:lpstr>
      <vt:lpstr>Method/Approach</vt:lpstr>
      <vt:lpstr>Experiments/Testings </vt:lpstr>
      <vt:lpstr>Experiments/Testings </vt:lpstr>
      <vt:lpstr>Results </vt:lpstr>
      <vt:lpstr>Results </vt:lpstr>
      <vt:lpstr>Results </vt:lpstr>
      <vt:lpstr>Visualization</vt:lpstr>
      <vt:lpstr>Conclusions </vt:lpstr>
      <vt:lpstr>Key References</vt:lpstr>
      <vt:lpstr>Key References</vt:lpstr>
      <vt:lpstr>THANK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Feature Modulation Block-aided Dual-Branch of Swin Transformer and Ensemble of CNN Models for Breast Cancer Classification</dc:title>
  <dc:creator>User</dc:creator>
  <cp:lastModifiedBy>Debatra Banerjee</cp:lastModifiedBy>
  <cp:revision>8</cp:revision>
  <dcterms:modified xsi:type="dcterms:W3CDTF">2026-06-11T17:08:24Z</dcterms:modified>
</cp:coreProperties>
</file>